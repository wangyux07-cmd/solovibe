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  <p:sldId id="262" r:id="rId4"/>
    <p:sldId id="275" r:id="rId5"/>
    <p:sldId id="288" r:id="rId6"/>
    <p:sldId id="289" r:id="rId7"/>
    <p:sldId id="290" r:id="rId8"/>
    <p:sldId id="283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6287B-710A-0356-15AC-B786F90AE99F}" v="6" dt="2026-05-26T01:06:25.071"/>
    <p1510:client id="{F1E864FC-B33C-FA44-82D8-01638BDA90BA}" v="53" dt="2026-05-26T12:44:57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5" d="100"/>
          <a:sy n="75" d="100"/>
        </p:scale>
        <p:origin x="12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80BB-E6D2-237C-99AE-586F7174F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A9699-3936-9F4E-A94A-E4509E722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81A3F-2CDB-9A8C-F352-7F495784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F162C-250D-7A77-3615-1BF3A72B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1451-791E-8AA0-223A-C63425F0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8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9054-58E4-9F78-2524-45B8A3DE7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1F57-D806-128F-3632-15638D3A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8B5ED-EC37-0F1F-5336-514026DA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226ED-4FBA-73E1-A760-17FA83CF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6D9D-8880-5BAA-9B62-919C06B2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1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738A-398D-5463-D4B2-5468A2B7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122E4-0B38-C775-2F08-3906FA968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1756D-9009-B19B-31F7-FF9E82B3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D99DB-945D-8D17-0871-218326EF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170F-AADD-B779-F0C5-F5BDA7DC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7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06B9-F539-C9B6-4450-A87AD147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EFC3B-6E97-C786-644F-4CDD8532B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ED544-412A-78C6-B7B1-86CEB5456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A5421-7C3C-6E82-3C0E-AB86653B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89371-3DAB-BC2C-3B32-8F888C06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E0AE8-B125-6CE7-ADC3-FE2A9C25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7B47-D249-D8B4-8C99-60383E42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F3C41-6C8C-B44C-F24D-D8A378EB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DA2A8-2333-78D2-D659-FB156DECE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01460-65CB-2B02-104A-F1FF7D01F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9E424-107B-7DAF-85EC-D4735733E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0ACDB-E0C6-5BCA-EFD2-D3981F039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B77FBD-3339-A1FD-35F7-18D7FC8B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2D447-F24F-0DEA-B58A-A505709E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8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5F73-3C1B-5029-0C9D-BA4A0557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705AF-9D03-ECB9-C2F7-CE008744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BF6B2-FCEF-558D-5DEE-C5CCC961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6DA03-DE2E-EC5D-A221-4FAB28BE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4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A47B2-EA88-5B1E-3BDC-E53933E3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B2DF2-DA17-6D9C-F401-9CC321EF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C204A-B379-B1CE-8116-03D2567D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5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113D-47DB-BA14-B04C-70C374C9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FA02A-B238-D2AE-5F29-4448F7160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AFD18-CA6D-5815-CC57-243CB2EDF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983A-9D99-A765-1EED-FC1E9FEE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4C5FE-2167-1A4B-3116-2037722D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9B1AC-9C8E-B484-8D32-06B04BBC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8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F89C1-4367-517E-572E-64CFF0ED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B8AF0-B974-E620-6423-47855860A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AA095-FDCB-F709-C3B7-AA569A3CD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90D05-B5F7-E2BD-D250-22F9AB9C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E0786-4537-6D71-DE54-D4F9B896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922E-CF69-3412-A021-918FABA9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2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D581-78E6-BBCF-B1BD-04EFB877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BDC15-A0BE-414C-C477-C81180DE4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D21B9-3BF6-9A33-F07C-9C0CDEFF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B850-746A-9850-15DD-055634AAC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EC80A-146F-CCD2-4BB3-0D791A04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8B26C-9E44-0BC7-9097-FE8757542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E380C-CF7C-F201-2FBB-039F360D5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9C287-7069-1419-6FB5-8A0BC559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E9454-E439-5423-3E0F-8240EE6A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1032-C6AA-49E9-9AEE-0FB2455E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0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4"/>
            </a:gs>
            <a:gs pos="100000">
              <a:srgbClr val="14192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9FDA68-8691-6AF0-E543-D52953F5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85A3E-E2F9-07CF-3047-E95A35B88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5BDFB-02CD-54E1-2E36-DFAC5A9E0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78DD5-E3F4-1D4D-8C3C-5DC54ABB895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D748-7255-5FDF-091D-0586F85E4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8FD0B-DA9A-EAFA-E141-635802E33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B4471-5398-4C49-A0CB-981A2E480C0D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LeftAccent"/>
          <p:cNvSpPr/>
          <p:nvPr userDrawn="1"/>
        </p:nvSpPr>
        <p:spPr>
          <a:xfrm>
            <a:off x="304800" y="457200"/>
            <a:ext cx="38100" cy="5943600"/>
          </a:xfrm>
          <a:prstGeom prst="rect">
            <a:avLst/>
          </a:prstGeom>
          <a:solidFill>
            <a:srgbClr val="E8C7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MintDot"/>
          <p:cNvSpPr/>
          <p:nvPr userDrawn="1"/>
        </p:nvSpPr>
        <p:spPr>
          <a:xfrm>
            <a:off x="11811000" y="6553200"/>
            <a:ext cx="120000" cy="120000"/>
          </a:xfrm>
          <a:prstGeom prst="ellipse">
            <a:avLst/>
          </a:prstGeom>
          <a:solidFill>
            <a:srgbClr val="5BE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BrandTag"/>
          <p:cNvSpPr txBox="1"/>
          <p:nvPr userDrawn="1"/>
        </p:nvSpPr>
        <p:spPr>
          <a:xfrm>
            <a:off x="10287000" y="6500000"/>
            <a:ext cx="1400000" cy="24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900" spc="300">
                <a:solidFill>
                  <a:srgbClr val="8A95A8"/>
                </a:solidFill>
              </a:rPr>
              <a:t>S O L O V I B E</a:t>
            </a:r>
          </a:p>
        </p:txBody>
      </p:sp>
    </p:spTree>
    <p:extLst>
      <p:ext uri="{BB962C8B-B14F-4D97-AF65-F5344CB8AC3E}">
        <p14:creationId xmlns:p14="http://schemas.microsoft.com/office/powerpoint/2010/main" val="184930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4F1E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8D4C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8D4C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8D4C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4C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4C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alo"/>
          <p:cNvSpPr/>
          <p:nvPr/>
        </p:nvSpPr>
        <p:spPr>
          <a:xfrm>
            <a:off x="3500000" y="1400000"/>
            <a:ext cx="5200000" cy="5200000"/>
          </a:xfrm>
          <a:prstGeom prst="ellipse">
            <a:avLst/>
          </a:prstGeom>
          <a:gradFill flip="none" rotWithShape="1">
            <a:gsLst>
              <a:gs pos="0">
                <a:srgbClr val="E8C77A">
                  <a:alpha val="35000"/>
                </a:srgbClr>
              </a:gs>
              <a:gs pos="60000">
                <a:srgbClr val="5BE0C8">
                  <a:alpha val="10000"/>
                </a:srgbClr>
              </a:gs>
              <a:gs pos="100000">
                <a:srgbClr val="0A0E1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914400" y="1524000"/>
            <a:ext cx="103632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spc="600">
                <a:solidFill>
                  <a:srgbClr val="5BE0C8"/>
                </a:solidFill>
                <a:ea typeface="Microsoft YaHei"/>
              </a:rPr>
              <a:t>2 0 2 6</a:t>
            </a:r>
            <a:r>
              <a:rPr lang="ja-JP" altLang="en-US" sz="1600" spc="600">
                <a:solidFill>
                  <a:srgbClr val="5BE0C8"/>
                </a:solidFill>
                <a:ea typeface="Microsoft YaHei"/>
              </a:rPr>
              <a:t>美团</a:t>
            </a:r>
            <a:r>
              <a:rPr lang="en-US" sz="1600" spc="600">
                <a:solidFill>
                  <a:srgbClr val="5BE0C8"/>
                </a:solidFill>
                <a:ea typeface="Microsoft YaHei"/>
              </a:rPr>
              <a:t>AI </a:t>
            </a:r>
            <a:r>
              <a:rPr lang="en-US" sz="1600" spc="600" err="1">
                <a:solidFill>
                  <a:srgbClr val="5BE0C8"/>
                </a:solidFill>
                <a:ea typeface="Microsoft YaHei"/>
              </a:rPr>
              <a:t>Hachathon</a:t>
            </a:r>
            <a:endParaRPr lang="en-US" sz="1600" b="0" spc="600">
              <a:solidFill>
                <a:srgbClr val="5BE0C8"/>
              </a:solidFill>
              <a:ea typeface="Microsoft YaHei"/>
            </a:endParaRPr>
          </a:p>
        </p:txBody>
      </p:sp>
      <p:sp>
        <p:nvSpPr>
          <p:cNvPr id="12" name="Title"/>
          <p:cNvSpPr txBox="1"/>
          <p:nvPr/>
        </p:nvSpPr>
        <p:spPr>
          <a:xfrm>
            <a:off x="457200" y="2050000"/>
            <a:ext cx="11277600" cy="1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400" b="1" spc="200">
                <a:solidFill>
                  <a:srgbClr val="F4F1EA"/>
                </a:solidFill>
              </a:rPr>
              <a:t>SoloVibe</a:t>
            </a:r>
          </a:p>
        </p:txBody>
      </p:sp>
      <p:sp>
        <p:nvSpPr>
          <p:cNvPr id="13" name="CNTitle"/>
          <p:cNvSpPr txBox="1"/>
          <p:nvPr/>
        </p:nvSpPr>
        <p:spPr>
          <a:xfrm>
            <a:off x="457200" y="3500000"/>
            <a:ext cx="11277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2800" spc="800">
                <a:solidFill>
                  <a:srgbClr val="E8C77A"/>
                </a:solidFill>
              </a:rPr>
              <a:t>独 频 漫 游</a:t>
            </a:r>
            <a:r>
              <a:rPr lang="en-US" sz="2800" spc="200">
                <a:solidFill>
                  <a:srgbClr val="E8C77A"/>
                </a:solidFill>
              </a:rPr>
              <a:t>  ·  </a:t>
            </a:r>
            <a:r>
              <a:rPr lang="zh-CN" sz="2800" spc="600">
                <a:solidFill>
                  <a:srgbClr val="E8C77A"/>
                </a:solidFill>
              </a:rPr>
              <a:t>城 市 独 行 指 南</a:t>
            </a:r>
          </a:p>
        </p:txBody>
      </p:sp>
      <p:sp>
        <p:nvSpPr>
          <p:cNvPr id="14" name="Divider"/>
          <p:cNvSpPr/>
          <p:nvPr/>
        </p:nvSpPr>
        <p:spPr>
          <a:xfrm>
            <a:off x="5486400" y="4250000"/>
            <a:ext cx="1219200" cy="12700"/>
          </a:xfrm>
          <a:prstGeom prst="rect">
            <a:avLst/>
          </a:prstGeom>
          <a:solidFill>
            <a:srgbClr val="E8C7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ubtitle"/>
          <p:cNvSpPr txBox="1"/>
          <p:nvPr/>
        </p:nvSpPr>
        <p:spPr>
          <a:xfrm>
            <a:off x="1828800" y="4450000"/>
            <a:ext cx="8534400" cy="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800">
                <a:solidFill>
                  <a:srgbClr val="D8D4CA"/>
                </a:solidFill>
              </a:rPr>
              <a:t>赋能悦纳自我的都市独行</a:t>
            </a:r>
          </a:p>
          <a:p>
            <a:pPr algn="ctr">
              <a:buNone/>
            </a:pPr>
            <a:r>
              <a:rPr lang="zh-CN" sz="1800">
                <a:solidFill>
                  <a:srgbClr val="D8D4CA"/>
                </a:solidFill>
              </a:rPr>
              <a:t>让 孤 独 成 为 一 件 酷 且 有 温 度 的 事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68EE08F-7401-2805-8C02-078D00D28900}"/>
              </a:ext>
            </a:extLst>
          </p:cNvPr>
          <p:cNvSpPr txBox="1"/>
          <p:nvPr/>
        </p:nvSpPr>
        <p:spPr>
          <a:xfrm>
            <a:off x="8475433" y="5700000"/>
            <a:ext cx="3026735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GB" sz="1600" spc="600" dirty="0">
                <a:solidFill>
                  <a:srgbClr val="5BE0C8"/>
                </a:solidFill>
                <a:ea typeface="Microsoft YaHei"/>
              </a:rPr>
              <a:t>Team: </a:t>
            </a:r>
            <a:r>
              <a:rPr lang="en-GB" sz="1600" spc="600" dirty="0" err="1">
                <a:solidFill>
                  <a:srgbClr val="5BE0C8"/>
                </a:solidFill>
                <a:ea typeface="Microsoft YaHei"/>
              </a:rPr>
              <a:t>一个人攒局</a:t>
            </a:r>
            <a:endParaRPr lang="en-US" sz="1600" b="0" spc="600" dirty="0">
              <a:solidFill>
                <a:srgbClr val="5BE0C8"/>
              </a:solidFill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5139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ageTag"/>
          <p:cNvSpPr txBox="1"/>
          <p:nvPr/>
        </p:nvSpPr>
        <p:spPr>
          <a:xfrm>
            <a:off x="685800" y="450000"/>
            <a:ext cx="30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1200" spc="400">
                <a:solidFill>
                  <a:srgbClr val="5BE0C8"/>
                </a:solidFill>
              </a:rPr>
              <a:t>02  /  TARGET USER</a:t>
            </a:r>
          </a:p>
        </p:txBody>
      </p:sp>
      <p:sp>
        <p:nvSpPr>
          <p:cNvPr id="21" name="Title"/>
          <p:cNvSpPr txBox="1"/>
          <p:nvPr/>
        </p:nvSpPr>
        <p:spPr>
          <a:xfrm>
            <a:off x="685800" y="780000"/>
            <a:ext cx="103632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600" b="1" dirty="0">
                <a:solidFill>
                  <a:srgbClr val="F4F1EA"/>
                </a:solidFill>
              </a:rPr>
              <a:t>渴望自处的</a:t>
            </a:r>
            <a:r>
              <a:rPr lang="zh-CN" sz="3600" b="1" dirty="0">
                <a:solidFill>
                  <a:srgbClr val="E8C77A"/>
                </a:solidFill>
              </a:rPr>
              <a:t>都市边缘人</a:t>
            </a:r>
          </a:p>
        </p:txBody>
      </p:sp>
      <p:sp>
        <p:nvSpPr>
          <p:cNvPr id="22" name="PersonaCard"/>
          <p:cNvSpPr/>
          <p:nvPr/>
        </p:nvSpPr>
        <p:spPr>
          <a:xfrm>
            <a:off x="685800" y="1900000"/>
            <a:ext cx="4400000" cy="440000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E8C77A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vatar"/>
          <p:cNvSpPr/>
          <p:nvPr/>
        </p:nvSpPr>
        <p:spPr>
          <a:xfrm>
            <a:off x="1100000" y="2200000"/>
            <a:ext cx="900000" cy="900000"/>
          </a:xfrm>
          <a:prstGeom prst="ellipse">
            <a:avLst/>
          </a:prstGeom>
          <a:gradFill>
            <a:gsLst>
              <a:gs pos="0">
                <a:srgbClr val="E8C77A"/>
              </a:gs>
              <a:gs pos="100000">
                <a:srgbClr val="FF8A5C"/>
              </a:gs>
            </a:gsLst>
            <a:lin ang="2700000"/>
          </a:gra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zh-CN" sz="3200" b="1">
                <a:solidFill>
                  <a:srgbClr val="0A0E14"/>
                </a:solidFill>
              </a:rPr>
              <a:t>雅</a:t>
            </a:r>
          </a:p>
        </p:txBody>
      </p:sp>
      <p:sp>
        <p:nvSpPr>
          <p:cNvPr id="24" name="PName"/>
          <p:cNvSpPr txBox="1"/>
          <p:nvPr/>
        </p:nvSpPr>
        <p:spPr>
          <a:xfrm>
            <a:off x="2150000" y="2240000"/>
            <a:ext cx="27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sz="2400" b="1" dirty="0">
                <a:solidFill>
                  <a:srgbClr val="F4F1EA"/>
                </a:solidFill>
              </a:rPr>
              <a:t>小雅</a:t>
            </a:r>
          </a:p>
          <a:p>
            <a:pPr algn="l">
              <a:buNone/>
            </a:pPr>
            <a:r>
              <a:rPr lang="zh-CN" sz="1400" dirty="0">
                <a:solidFill>
                  <a:srgbClr val="8A95A8"/>
                </a:solidFill>
              </a:rPr>
              <a:t>26  ·  互联网交互设计师  ·  INFJ</a:t>
            </a:r>
          </a:p>
        </p:txBody>
      </p:sp>
      <p:sp>
        <p:nvSpPr>
          <p:cNvPr id="25" name="PDivider"/>
          <p:cNvSpPr/>
          <p:nvPr/>
        </p:nvSpPr>
        <p:spPr>
          <a:xfrm>
            <a:off x="1100000" y="3250000"/>
            <a:ext cx="3600000" cy="6350"/>
          </a:xfrm>
          <a:prstGeom prst="rect">
            <a:avLst/>
          </a:prstGeom>
          <a:solidFill>
            <a:srgbClr val="E8C77A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PBody"/>
          <p:cNvSpPr txBox="1"/>
          <p:nvPr/>
        </p:nvSpPr>
        <p:spPr>
          <a:xfrm>
            <a:off x="1100000" y="3380000"/>
            <a:ext cx="3600000" cy="2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400" b="1" spc="200">
                <a:solidFill>
                  <a:srgbClr val="5BE0C8"/>
                </a:solidFill>
              </a:rPr>
              <a:t>典 型 画 像</a:t>
            </a:r>
          </a:p>
          <a:p>
            <a:pPr marL="0" indent="0">
              <a:lnSpc>
                <a:spcPts val="2200"/>
              </a:lnSpc>
              <a:spcAft>
                <a:spcPts val="400"/>
              </a:spcAft>
              <a:buNone/>
            </a:pPr>
            <a:r>
              <a:rPr lang="zh-CN" sz="1500">
                <a:solidFill>
                  <a:srgbClr val="D8D4CA"/>
                </a:solidFill>
              </a:rPr>
              <a:t>高压工作日复一日，周末极度渴望独处充电。讨厌无意义饭局，又厌倦窝在家刷手机的空虚。</a:t>
            </a:r>
          </a:p>
          <a:p>
            <a:pPr marL="0" indent="0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400" b="1" spc="200">
                <a:solidFill>
                  <a:srgbClr val="5BE0C8"/>
                </a:solidFill>
              </a:rPr>
              <a:t>核 心 需 求</a:t>
            </a:r>
          </a:p>
          <a:p>
            <a:pPr marL="0" indent="0">
              <a:lnSpc>
                <a:spcPts val="2200"/>
              </a:lnSpc>
              <a:buNone/>
            </a:pPr>
            <a:r>
              <a:rPr lang="zh-CN" sz="1500">
                <a:solidFill>
                  <a:srgbClr val="D8D4CA"/>
                </a:solidFill>
              </a:rPr>
              <a:t>想出门透气，渴望与城市低压力连接 —— 但不想跟任何人废话。</a:t>
            </a:r>
          </a:p>
        </p:txBody>
      </p:sp>
      <p:sp>
        <p:nvSpPr>
          <p:cNvPr id="30" name="RightTitle"/>
          <p:cNvSpPr txBox="1"/>
          <p:nvPr/>
        </p:nvSpPr>
        <p:spPr>
          <a:xfrm>
            <a:off x="5500000" y="1900000"/>
            <a:ext cx="62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spc="400">
                <a:solidFill>
                  <a:srgbClr val="E8C77A"/>
                </a:solidFill>
              </a:rPr>
              <a:t>三 重 撕 扯  ·  PAIN POINTS</a:t>
            </a:r>
          </a:p>
        </p:txBody>
      </p:sp>
      <p:sp>
        <p:nvSpPr>
          <p:cNvPr id="31" name="Pain1Num"/>
          <p:cNvSpPr txBox="1"/>
          <p:nvPr/>
        </p:nvSpPr>
        <p:spPr>
          <a:xfrm>
            <a:off x="5500000" y="24000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3200" b="1">
                <a:solidFill>
                  <a:srgbClr val="E8C77A">
                    <a:alpha val="50000"/>
                  </a:srgbClr>
                </a:solidFill>
              </a:rPr>
              <a:t>01</a:t>
            </a:r>
          </a:p>
        </p:txBody>
      </p:sp>
      <p:sp>
        <p:nvSpPr>
          <p:cNvPr id="32" name="Pain1"/>
          <p:cNvSpPr txBox="1"/>
          <p:nvPr/>
        </p:nvSpPr>
        <p:spPr>
          <a:xfrm>
            <a:off x="6100000" y="2410000"/>
            <a:ext cx="5400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r>
              <a:rPr lang="zh-CN" sz="1700" b="1">
                <a:solidFill>
                  <a:srgbClr val="F4F1EA"/>
                </a:solidFill>
              </a:rPr>
              <a:t>社交疲惫 × 孤独焦虑</a:t>
            </a:r>
          </a:p>
          <a:p>
            <a:pPr marL="0" indent="0">
              <a:lnSpc>
                <a:spcPts val="2000"/>
              </a:lnSpc>
              <a:buNone/>
            </a:pPr>
            <a:r>
              <a:rPr lang="zh-CN" sz="1400">
                <a:solidFill>
                  <a:srgbClr val="8A95A8"/>
                </a:solidFill>
              </a:rPr>
              <a:t>想一个人，又怕断联；渴望温度，抗拒强社交。</a:t>
            </a:r>
          </a:p>
        </p:txBody>
      </p:sp>
      <p:sp>
        <p:nvSpPr>
          <p:cNvPr id="33" name="Pain2Num"/>
          <p:cNvSpPr txBox="1"/>
          <p:nvPr/>
        </p:nvSpPr>
        <p:spPr>
          <a:xfrm>
            <a:off x="5500000" y="37000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3200" b="1">
                <a:solidFill>
                  <a:srgbClr val="E8C77A">
                    <a:alpha val="50000"/>
                  </a:srgbClr>
                </a:solidFill>
              </a:rPr>
              <a:t>02</a:t>
            </a:r>
          </a:p>
        </p:txBody>
      </p:sp>
      <p:sp>
        <p:nvSpPr>
          <p:cNvPr id="34" name="Pain2"/>
          <p:cNvSpPr txBox="1"/>
          <p:nvPr/>
        </p:nvSpPr>
        <p:spPr>
          <a:xfrm>
            <a:off x="6100000" y="3710000"/>
            <a:ext cx="5400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r>
              <a:rPr lang="zh-CN" sz="1700" b="1">
                <a:solidFill>
                  <a:srgbClr val="F4F1EA"/>
                </a:solidFill>
              </a:rPr>
              <a:t>一人出行的尴尬税</a:t>
            </a:r>
          </a:p>
          <a:p>
            <a:pPr marL="0" indent="0">
              <a:lnSpc>
                <a:spcPts val="2000"/>
              </a:lnSpc>
              <a:buNone/>
            </a:pPr>
            <a:r>
              <a:rPr lang="zh-CN" sz="1400">
                <a:solidFill>
                  <a:srgbClr val="8A95A8"/>
                </a:solidFill>
              </a:rPr>
              <a:t>不知道去哪，怕推门是情侣海洋，怕第二杯半价。</a:t>
            </a:r>
          </a:p>
        </p:txBody>
      </p:sp>
      <p:sp>
        <p:nvSpPr>
          <p:cNvPr id="35" name="Pain3Num"/>
          <p:cNvSpPr txBox="1"/>
          <p:nvPr/>
        </p:nvSpPr>
        <p:spPr>
          <a:xfrm>
            <a:off x="5500000" y="50000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3200" b="1">
                <a:solidFill>
                  <a:srgbClr val="E8C77A">
                    <a:alpha val="50000"/>
                  </a:srgbClr>
                </a:solidFill>
              </a:rPr>
              <a:t>03</a:t>
            </a:r>
          </a:p>
        </p:txBody>
      </p:sp>
      <p:sp>
        <p:nvSpPr>
          <p:cNvPr id="36" name="Pain3"/>
          <p:cNvSpPr txBox="1"/>
          <p:nvPr/>
        </p:nvSpPr>
        <p:spPr>
          <a:xfrm>
            <a:off x="6100000" y="5010000"/>
            <a:ext cx="5400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r>
              <a:rPr lang="zh-CN" sz="1700" b="1">
                <a:solidFill>
                  <a:srgbClr val="F4F1EA"/>
                </a:solidFill>
              </a:rPr>
              <a:t>城市同质化的疲倦</a:t>
            </a:r>
          </a:p>
          <a:p>
            <a:pPr marL="0" indent="0">
              <a:lnSpc>
                <a:spcPts val="2000"/>
              </a:lnSpc>
              <a:buNone/>
            </a:pPr>
            <a:r>
              <a:rPr lang="zh-CN" sz="1400">
                <a:solidFill>
                  <a:srgbClr val="8A95A8"/>
                </a:solidFill>
              </a:rPr>
              <a:t>商业街千篇一律，缺乏新奇刺激与深度自处体验。</a:t>
            </a:r>
          </a:p>
        </p:txBody>
      </p:sp>
    </p:spTree>
    <p:extLst>
      <p:ext uri="{BB962C8B-B14F-4D97-AF65-F5344CB8AC3E}">
        <p14:creationId xmlns:p14="http://schemas.microsoft.com/office/powerpoint/2010/main" val="331274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ageTag"/>
          <p:cNvSpPr txBox="1"/>
          <p:nvPr/>
        </p:nvSpPr>
        <p:spPr>
          <a:xfrm>
            <a:off x="685800" y="450000"/>
            <a:ext cx="30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1200" spc="400">
                <a:solidFill>
                  <a:srgbClr val="5BE0C8"/>
                </a:solidFill>
              </a:rPr>
              <a:t>03  /  OUR VISION</a:t>
            </a:r>
          </a:p>
        </p:txBody>
      </p:sp>
      <p:sp>
        <p:nvSpPr>
          <p:cNvPr id="41" name="Title"/>
          <p:cNvSpPr txBox="1"/>
          <p:nvPr/>
        </p:nvSpPr>
        <p:spPr>
          <a:xfrm>
            <a:off x="685800" y="780000"/>
            <a:ext cx="103632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600" b="1">
                <a:solidFill>
                  <a:srgbClr val="F4F1EA"/>
                </a:solidFill>
              </a:rPr>
              <a:t>我们不消灭孤独</a:t>
            </a:r>
            <a:r>
              <a:rPr lang="zh-CN" sz="3600" b="1">
                <a:solidFill>
                  <a:srgbClr val="E8C77A"/>
                </a:solidFill>
              </a:rPr>
              <a:t>，我们赋能孤独</a:t>
            </a:r>
          </a:p>
        </p:txBody>
      </p:sp>
      <p:sp>
        <p:nvSpPr>
          <p:cNvPr id="42" name="OldCard"/>
          <p:cNvSpPr/>
          <p:nvPr/>
        </p:nvSpPr>
        <p:spPr>
          <a:xfrm>
            <a:off x="685800" y="1900000"/>
            <a:ext cx="5100000" cy="3700000"/>
          </a:xfrm>
          <a:prstGeom prst="roundRect">
            <a:avLst>
              <a:gd name="adj" fmla="val 4000"/>
            </a:avLst>
          </a:prstGeom>
          <a:solidFill>
            <a:srgbClr val="14181F"/>
          </a:solidFill>
          <a:ln w="6350">
            <a:solidFill>
              <a:srgbClr val="3A3F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OldLabel"/>
          <p:cNvSpPr txBox="1"/>
          <p:nvPr/>
        </p:nvSpPr>
        <p:spPr>
          <a:xfrm>
            <a:off x="1100000" y="2150000"/>
            <a:ext cx="44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spc="400">
                <a:solidFill>
                  <a:srgbClr val="8A95A8"/>
                </a:solidFill>
              </a:rPr>
              <a:t>TRADITIONAL  /  传 统 路 径</a:t>
            </a:r>
          </a:p>
        </p:txBody>
      </p:sp>
      <p:sp>
        <p:nvSpPr>
          <p:cNvPr id="44" name="OldHeadline"/>
          <p:cNvSpPr txBox="1"/>
          <p:nvPr/>
        </p:nvSpPr>
        <p:spPr>
          <a:xfrm>
            <a:off x="1100000" y="2620000"/>
            <a:ext cx="4400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400" b="1">
                <a:solidFill>
                  <a:srgbClr val="8A95A8"/>
                </a:solidFill>
              </a:rPr>
              <a:t>消灭孤独</a:t>
            </a:r>
          </a:p>
          <a:p>
            <a:pPr algn="l">
              <a:buNone/>
            </a:pPr>
            <a:r>
              <a:rPr lang="zh-CN" sz="1400">
                <a:solidFill>
                  <a:srgbClr val="6A6F7A"/>
                </a:solidFill>
              </a:rPr>
              <a:t>把人塞进喧闹的社交局，强行结对、约会、拼桌。</a:t>
            </a:r>
          </a:p>
        </p:txBody>
      </p:sp>
      <p:sp>
        <p:nvSpPr>
          <p:cNvPr id="45" name="OldList"/>
          <p:cNvSpPr txBox="1"/>
          <p:nvPr/>
        </p:nvSpPr>
        <p:spPr>
          <a:xfrm>
            <a:off x="1100000" y="3900000"/>
            <a:ext cx="4400000" cy="1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>
              <a:lnSpc>
                <a:spcPts val="2400"/>
              </a:lnSpc>
              <a:buClr>
                <a:srgbClr val="6A6F7A"/>
              </a:buClr>
              <a:buFont typeface="Arial"/>
              <a:buChar char="×"/>
            </a:pPr>
            <a:r>
              <a:rPr lang="zh-CN" sz="1400">
                <a:solidFill>
                  <a:srgbClr val="8A95A8"/>
                </a:solidFill>
              </a:rPr>
              <a:t>高损耗的强社交压力</a:t>
            </a:r>
          </a:p>
          <a:p>
            <a:pPr marL="180000" indent="-180000">
              <a:lnSpc>
                <a:spcPts val="2400"/>
              </a:lnSpc>
              <a:buClr>
                <a:srgbClr val="6A6F7A"/>
              </a:buClr>
              <a:buFont typeface="Arial"/>
              <a:buChar char="×"/>
            </a:pPr>
            <a:r>
              <a:rPr lang="zh-CN" sz="1400">
                <a:solidFill>
                  <a:srgbClr val="8A95A8"/>
                </a:solidFill>
              </a:rPr>
              <a:t>千篇一律的网红聚会场所</a:t>
            </a:r>
          </a:p>
          <a:p>
            <a:pPr marL="180000" indent="-180000">
              <a:lnSpc>
                <a:spcPts val="2400"/>
              </a:lnSpc>
              <a:buClr>
                <a:srgbClr val="6A6F7A"/>
              </a:buClr>
              <a:buFont typeface="Arial"/>
              <a:buChar char="×"/>
            </a:pPr>
            <a:r>
              <a:rPr lang="zh-CN" sz="1400">
                <a:solidFill>
                  <a:srgbClr val="8A95A8"/>
                </a:solidFill>
              </a:rPr>
              <a:t>把独处当 bug 来修复</a:t>
            </a:r>
          </a:p>
        </p:txBody>
      </p:sp>
      <p:sp>
        <p:nvSpPr>
          <p:cNvPr id="46" name="NewCard"/>
          <p:cNvSpPr/>
          <p:nvPr/>
        </p:nvSpPr>
        <p:spPr>
          <a:xfrm>
            <a:off x="6400000" y="1900000"/>
            <a:ext cx="5100000" cy="3700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1F2735"/>
              </a:gs>
              <a:gs pos="100000">
                <a:srgbClr val="1A1F2A"/>
              </a:gs>
            </a:gsLst>
            <a:lin ang="2700000"/>
          </a:gradFill>
          <a:ln w="9525">
            <a:solidFill>
              <a:srgbClr val="E8C7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NewLabel"/>
          <p:cNvSpPr txBox="1"/>
          <p:nvPr/>
        </p:nvSpPr>
        <p:spPr>
          <a:xfrm>
            <a:off x="6800000" y="2150000"/>
            <a:ext cx="44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spc="400">
                <a:solidFill>
                  <a:srgbClr val="5BE0C8"/>
                </a:solidFill>
              </a:rPr>
              <a:t>SOLOVIBE  /  我 们 的 答 案</a:t>
            </a:r>
          </a:p>
        </p:txBody>
      </p:sp>
      <p:sp>
        <p:nvSpPr>
          <p:cNvPr id="48" name="NewHeadline"/>
          <p:cNvSpPr txBox="1"/>
          <p:nvPr/>
        </p:nvSpPr>
        <p:spPr>
          <a:xfrm>
            <a:off x="6800000" y="2620000"/>
            <a:ext cx="4400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400" b="1">
                <a:solidFill>
                  <a:srgbClr val="E8C77A"/>
                </a:solidFill>
              </a:rPr>
              <a:t>赋能孤独</a:t>
            </a:r>
          </a:p>
          <a:p>
            <a:pPr algn="l">
              <a:buNone/>
            </a:pPr>
            <a:r>
              <a:rPr lang="zh-CN" sz="1400">
                <a:solidFill>
                  <a:srgbClr val="D8D4CA"/>
                </a:solidFill>
              </a:rPr>
              <a:t>用 AI 匹配能量值，让独处自带游戏感与温度。</a:t>
            </a:r>
          </a:p>
        </p:txBody>
      </p:sp>
      <p:sp>
        <p:nvSpPr>
          <p:cNvPr id="49" name="NewList"/>
          <p:cNvSpPr txBox="1"/>
          <p:nvPr/>
        </p:nvSpPr>
        <p:spPr>
          <a:xfrm>
            <a:off x="6800000" y="3900000"/>
            <a:ext cx="4400000" cy="1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00000" indent="-200000">
              <a:lnSpc>
                <a:spcPts val="2400"/>
              </a:lnSpc>
              <a:buClr>
                <a:srgbClr val="5BE0C8"/>
              </a:buClr>
              <a:buFont typeface="Arial"/>
              <a:buChar char="✦"/>
            </a:pPr>
            <a:r>
              <a:rPr lang="zh-CN" sz="1400">
                <a:solidFill>
                  <a:srgbClr val="D8D4CA"/>
                </a:solidFill>
              </a:rPr>
              <a:t>AI 测算精力 × 三量身定制方案</a:t>
            </a:r>
          </a:p>
          <a:p>
            <a:pPr marL="200000" indent="-200000">
              <a:lnSpc>
                <a:spcPts val="2400"/>
              </a:lnSpc>
              <a:buClr>
                <a:srgbClr val="5BE0C8"/>
              </a:buClr>
              <a:buFont typeface="Arial"/>
              <a:buChar char="✦"/>
            </a:pPr>
            <a:r>
              <a:rPr lang="zh-CN" sz="1400">
                <a:solidFill>
                  <a:srgbClr val="D8D4CA"/>
                </a:solidFill>
              </a:rPr>
              <a:t>游戏感城市副本 × 独行友好指数</a:t>
            </a:r>
          </a:p>
          <a:p>
            <a:pPr marL="200000" indent="-200000">
              <a:lnSpc>
                <a:spcPts val="2400"/>
              </a:lnSpc>
              <a:buClr>
                <a:srgbClr val="5BE0C8"/>
              </a:buClr>
              <a:buFont typeface="Arial"/>
              <a:buChar char="✦"/>
            </a:pPr>
            <a:r>
              <a:rPr lang="zh-CN" sz="1400">
                <a:solidFill>
                  <a:srgbClr val="D8D4CA"/>
                </a:solidFill>
              </a:rPr>
              <a:t>同频共鸣 × 平行存在，各自浪漫</a:t>
            </a:r>
          </a:p>
        </p:txBody>
      </p:sp>
      <p:sp>
        <p:nvSpPr>
          <p:cNvPr id="50" name="VsCircle"/>
          <p:cNvSpPr/>
          <p:nvPr/>
        </p:nvSpPr>
        <p:spPr>
          <a:xfrm>
            <a:off x="5756000" y="3560000"/>
            <a:ext cx="680000" cy="680000"/>
          </a:xfrm>
          <a:prstGeom prst="ellipse">
            <a:avLst/>
          </a:prstGeom>
          <a:solidFill>
            <a:srgbClr val="0A0E14"/>
          </a:solidFill>
          <a:ln w="12700">
            <a:solidFill>
              <a:srgbClr val="E8C77A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spc="100">
                <a:solidFill>
                  <a:srgbClr val="E8C77A"/>
                </a:solidFill>
              </a:rPr>
              <a:t>VS</a:t>
            </a:r>
          </a:p>
        </p:txBody>
      </p:sp>
      <p:sp>
        <p:nvSpPr>
          <p:cNvPr id="51" name="Closing"/>
          <p:cNvSpPr txBox="1"/>
          <p:nvPr/>
        </p:nvSpPr>
        <p:spPr>
          <a:xfrm>
            <a:off x="685800" y="5900000"/>
            <a:ext cx="108000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600" spc="400">
                <a:solidFill>
                  <a:srgbClr val="E8C77A"/>
                </a:solidFill>
              </a:rPr>
              <a:t>平 行 存 在  ·  各 自 浪 漫</a:t>
            </a:r>
          </a:p>
        </p:txBody>
      </p:sp>
    </p:spTree>
    <p:extLst>
      <p:ext uri="{BB962C8B-B14F-4D97-AF65-F5344CB8AC3E}">
        <p14:creationId xmlns:p14="http://schemas.microsoft.com/office/powerpoint/2010/main" val="102072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ageTag"/>
          <p:cNvSpPr txBox="1"/>
          <p:nvPr/>
        </p:nvSpPr>
        <p:spPr>
          <a:xfrm>
            <a:off x="685800" y="450000"/>
            <a:ext cx="50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1200" spc="400">
                <a:solidFill>
                  <a:srgbClr val="5BE0C8"/>
                </a:solidFill>
              </a:rPr>
              <a:t>04  /  CORE  ·  AI AGENT FLOW</a:t>
            </a:r>
          </a:p>
        </p:txBody>
      </p:sp>
      <p:sp>
        <p:nvSpPr>
          <p:cNvPr id="601" name="Title"/>
          <p:cNvSpPr txBox="1"/>
          <p:nvPr/>
        </p:nvSpPr>
        <p:spPr>
          <a:xfrm>
            <a:off x="685800" y="780000"/>
            <a:ext cx="78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zh-CN" altLang="en-US" sz="3200" b="1" dirty="0">
                <a:solidFill>
                  <a:srgbClr val="E8C77A"/>
                </a:solidFill>
              </a:rPr>
              <a:t>从「情绪」到「出门」　</a:t>
            </a:r>
          </a:p>
        </p:txBody>
      </p:sp>
      <p:sp>
        <p:nvSpPr>
          <p:cNvPr id="602" name="Slogan"/>
          <p:cNvSpPr txBox="1"/>
          <p:nvPr/>
        </p:nvSpPr>
        <p:spPr>
          <a:xfrm>
            <a:off x="8200000" y="850000"/>
            <a:ext cx="33000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i="1">
                <a:solidFill>
                  <a:srgbClr val="8A95A8"/>
                </a:solidFill>
              </a:rPr>
              <a:t>“ </a:t>
            </a:r>
            <a:r>
              <a:rPr lang="zh-CN" sz="1400" i="1">
                <a:solidFill>
                  <a:srgbClr val="8A95A8"/>
                </a:solidFill>
              </a:rPr>
              <a:t>说出心情，剩下交给我们。</a:t>
            </a:r>
            <a:r>
              <a:rPr lang="en-US" sz="1400" i="1">
                <a:solidFill>
                  <a:srgbClr val="8A95A8"/>
                </a:solidFill>
              </a:rPr>
              <a:t> ”</a:t>
            </a:r>
          </a:p>
        </p:txBody>
      </p:sp>
      <p:sp>
        <p:nvSpPr>
          <p:cNvPr id="610" name="FlowLine"/>
          <p:cNvSpPr/>
          <p:nvPr/>
        </p:nvSpPr>
        <p:spPr>
          <a:xfrm>
            <a:off x="1200000" y="4200000"/>
            <a:ext cx="9800000" cy="12700"/>
          </a:xfrm>
          <a:prstGeom prst="rect">
            <a:avLst/>
          </a:prstGeom>
          <a:solidFill>
            <a:srgbClr val="E8C77A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0" name="Card1"/>
          <p:cNvSpPr/>
          <p:nvPr/>
        </p:nvSpPr>
        <p:spPr>
          <a:xfrm>
            <a:off x="700000" y="1850000"/>
            <a:ext cx="3500000" cy="4400000"/>
          </a:xfrm>
          <a:prstGeom prst="roundRect">
            <a:avLst>
              <a:gd name="adj" fmla="val 5000"/>
            </a:avLst>
          </a:prstGeom>
          <a:solidFill>
            <a:srgbClr val="1A1F2A"/>
          </a:solidFill>
          <a:ln w="6350">
            <a:solidFill>
              <a:srgbClr val="5BE0C8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1" name="Icon1"/>
          <p:cNvSpPr/>
          <p:nvPr/>
        </p:nvSpPr>
        <p:spPr>
          <a:xfrm>
            <a:off x="950000" y="2100000"/>
            <a:ext cx="850000" cy="650000"/>
          </a:xfrm>
          <a:prstGeom prst="wedgeRoundRectCallout">
            <a:avLst>
              <a:gd name="adj1" fmla="val -35000"/>
              <a:gd name="adj2" fmla="val 65000"/>
              <a:gd name="adj3" fmla="val 16667"/>
            </a:avLst>
          </a:prstGeom>
          <a:solidFill>
            <a:srgbClr val="5BE0C8"/>
          </a:solidFill>
          <a:ln>
            <a:noFill/>
          </a:ln>
        </p:spPr>
        <p:txBody>
          <a:bodyPr wrap="none" lIns="0" tIns="0" rIns="0" bIns="80000" anchor="ctr"/>
          <a:lstStyle/>
          <a:p>
            <a:pPr algn="ctr">
              <a:buNone/>
            </a:pPr>
            <a:r>
              <a:rPr lang="zh-CN" sz="1600" b="1">
                <a:solidFill>
                  <a:srgbClr val="0A0E14"/>
                </a:solidFill>
              </a:rPr>
              <a:t>…</a:t>
            </a:r>
          </a:p>
        </p:txBody>
      </p:sp>
      <p:sp>
        <p:nvSpPr>
          <p:cNvPr id="622" name="Num1"/>
          <p:cNvSpPr txBox="1"/>
          <p:nvPr/>
        </p:nvSpPr>
        <p:spPr>
          <a:xfrm>
            <a:off x="2900000" y="2100000"/>
            <a:ext cx="1100000" cy="7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4800" b="1">
                <a:solidFill>
                  <a:srgbClr val="5BE0C8">
                    <a:alpha val="25000"/>
                  </a:srgbClr>
                </a:solidFill>
              </a:rPr>
              <a:t>01</a:t>
            </a:r>
          </a:p>
        </p:txBody>
      </p:sp>
      <p:sp>
        <p:nvSpPr>
          <p:cNvPr id="623" name="Label1"/>
          <p:cNvSpPr txBox="1"/>
          <p:nvPr/>
        </p:nvSpPr>
        <p:spPr>
          <a:xfrm>
            <a:off x="950000" y="3050000"/>
            <a:ext cx="3000000" cy="40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200" b="1" spc="400">
                <a:solidFill>
                  <a:srgbClr val="5BE0C8"/>
                </a:solidFill>
              </a:rPr>
              <a:t>S T E P  0 1</a:t>
            </a:r>
          </a:p>
        </p:txBody>
      </p:sp>
      <p:sp>
        <p:nvSpPr>
          <p:cNvPr id="624" name="Head1"/>
          <p:cNvSpPr txBox="1"/>
          <p:nvPr/>
        </p:nvSpPr>
        <p:spPr>
          <a:xfrm>
            <a:off x="950000" y="3500000"/>
            <a:ext cx="30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000" b="1" dirty="0">
                <a:solidFill>
                  <a:srgbClr val="F4F1EA"/>
                </a:solidFill>
              </a:rPr>
              <a:t>情绪输入</a:t>
            </a:r>
          </a:p>
        </p:txBody>
      </p:sp>
      <p:sp>
        <p:nvSpPr>
          <p:cNvPr id="625" name="Body1"/>
          <p:cNvSpPr txBox="1"/>
          <p:nvPr/>
        </p:nvSpPr>
        <p:spPr>
          <a:xfrm>
            <a:off x="950000" y="4350000"/>
            <a:ext cx="3000000" cy="1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200"/>
              </a:lnSpc>
              <a:spcAft>
                <a:spcPts val="400"/>
              </a:spcAft>
              <a:buNone/>
            </a:pPr>
            <a:r>
              <a:rPr lang="zh-CN" sz="1400" dirty="0">
                <a:solidFill>
                  <a:srgbClr val="D8D4CA"/>
                </a:solidFill>
              </a:rPr>
              <a:t>不问「想去哪」，只问「现在感觉怎么样」。</a:t>
            </a:r>
          </a:p>
          <a:p>
            <a:pPr marL="0" indent="0">
              <a:lnSpc>
                <a:spcPts val="2000"/>
              </a:lnSpc>
              <a:buNone/>
            </a:pPr>
            <a:r>
              <a:rPr lang="zh-CN" sz="1400" dirty="0">
                <a:solidFill>
                  <a:srgbClr val="8A95A8"/>
                </a:solidFill>
              </a:rPr>
              <a:t>AI 先倾听、再回应 —— 出行的起点不是地点，是心境。</a:t>
            </a:r>
          </a:p>
        </p:txBody>
      </p:sp>
      <p:sp>
        <p:nvSpPr>
          <p:cNvPr id="630" name="Card2"/>
          <p:cNvSpPr/>
          <p:nvPr/>
        </p:nvSpPr>
        <p:spPr>
          <a:xfrm>
            <a:off x="4350000" y="1850000"/>
            <a:ext cx="3500000" cy="4400000"/>
          </a:xfrm>
          <a:prstGeom prst="roundRect">
            <a:avLst>
              <a:gd name="adj" fmla="val 5000"/>
            </a:avLst>
          </a:prstGeom>
          <a:solidFill>
            <a:srgbClr val="1A1F2A"/>
          </a:solidFill>
          <a:ln w="6350">
            <a:solidFill>
              <a:srgbClr val="E8C77A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1" name="MiniCard2A"/>
          <p:cNvSpPr/>
          <p:nvPr/>
        </p:nvSpPr>
        <p:spPr>
          <a:xfrm rot="-1200000">
            <a:off x="4600000" y="2100000"/>
            <a:ext cx="700000" cy="700000"/>
          </a:xfrm>
          <a:prstGeom prst="roundRect">
            <a:avLst>
              <a:gd name="adj" fmla="val 10000"/>
            </a:avLst>
          </a:prstGeom>
          <a:solidFill>
            <a:srgbClr val="252C3A"/>
          </a:solidFill>
          <a:ln w="6350">
            <a:solidFill>
              <a:srgbClr val="5BE0C8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5BE0C8"/>
                </a:solidFill>
              </a:rPr>
              <a:t>A</a:t>
            </a:r>
          </a:p>
        </p:txBody>
      </p:sp>
      <p:sp>
        <p:nvSpPr>
          <p:cNvPr id="632" name="MiniCard2B"/>
          <p:cNvSpPr/>
          <p:nvPr/>
        </p:nvSpPr>
        <p:spPr>
          <a:xfrm>
            <a:off x="5200000" y="2050000"/>
            <a:ext cx="700000" cy="700000"/>
          </a:xfrm>
          <a:prstGeom prst="roundRect">
            <a:avLst>
              <a:gd name="adj" fmla="val 10000"/>
            </a:avLst>
          </a:prstGeom>
          <a:solidFill>
            <a:srgbClr val="252C3A"/>
          </a:solidFill>
          <a:ln w="6350">
            <a:solidFill>
              <a:srgbClr val="E8C77A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E8C77A"/>
                </a:solidFill>
              </a:rPr>
              <a:t>B</a:t>
            </a:r>
          </a:p>
        </p:txBody>
      </p:sp>
      <p:sp>
        <p:nvSpPr>
          <p:cNvPr id="633" name="MiniCard2C"/>
          <p:cNvSpPr/>
          <p:nvPr/>
        </p:nvSpPr>
        <p:spPr>
          <a:xfrm rot="1200000">
            <a:off x="5800000" y="2100000"/>
            <a:ext cx="700000" cy="700000"/>
          </a:xfrm>
          <a:prstGeom prst="roundRect">
            <a:avLst>
              <a:gd name="adj" fmla="val 10000"/>
            </a:avLst>
          </a:prstGeom>
          <a:solidFill>
            <a:srgbClr val="252C3A"/>
          </a:solidFill>
          <a:ln w="6350">
            <a:solidFill>
              <a:srgbClr val="FF8A5C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FF8A5C"/>
                </a:solidFill>
              </a:rPr>
              <a:t>C</a:t>
            </a:r>
          </a:p>
        </p:txBody>
      </p:sp>
      <p:sp>
        <p:nvSpPr>
          <p:cNvPr id="634" name="Num2"/>
          <p:cNvSpPr txBox="1"/>
          <p:nvPr/>
        </p:nvSpPr>
        <p:spPr>
          <a:xfrm>
            <a:off x="6550000" y="2100000"/>
            <a:ext cx="1100000" cy="7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4800" b="1">
                <a:solidFill>
                  <a:srgbClr val="E8C77A">
                    <a:alpha val="25000"/>
                  </a:srgbClr>
                </a:solidFill>
              </a:rPr>
              <a:t>02</a:t>
            </a:r>
          </a:p>
        </p:txBody>
      </p:sp>
      <p:sp>
        <p:nvSpPr>
          <p:cNvPr id="635" name="Label2"/>
          <p:cNvSpPr txBox="1"/>
          <p:nvPr/>
        </p:nvSpPr>
        <p:spPr>
          <a:xfrm>
            <a:off x="4600000" y="3050000"/>
            <a:ext cx="3000000" cy="40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200" b="1" spc="400">
                <a:solidFill>
                  <a:srgbClr val="E8C77A"/>
                </a:solidFill>
              </a:rPr>
              <a:t>S T E P  0 2</a:t>
            </a:r>
          </a:p>
        </p:txBody>
      </p:sp>
      <p:sp>
        <p:nvSpPr>
          <p:cNvPr id="636" name="Head2"/>
          <p:cNvSpPr txBox="1"/>
          <p:nvPr/>
        </p:nvSpPr>
        <p:spPr>
          <a:xfrm>
            <a:off x="4600000" y="3500000"/>
            <a:ext cx="30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000" b="1">
                <a:solidFill>
                  <a:srgbClr val="F4F1EA"/>
                </a:solidFill>
              </a:rPr>
              <a:t>AI 三方案生成</a:t>
            </a:r>
          </a:p>
        </p:txBody>
      </p:sp>
      <p:sp>
        <p:nvSpPr>
          <p:cNvPr id="637" name="Body2"/>
          <p:cNvSpPr txBox="1"/>
          <p:nvPr/>
        </p:nvSpPr>
        <p:spPr>
          <a:xfrm>
            <a:off x="4600000" y="4350000"/>
            <a:ext cx="3000000" cy="1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200"/>
              </a:lnSpc>
              <a:spcAft>
                <a:spcPts val="400"/>
              </a:spcAft>
              <a:buNone/>
            </a:pPr>
            <a:r>
              <a:rPr lang="zh-CN" sz="1400" dirty="0">
                <a:solidFill>
                  <a:srgbClr val="D8D4CA"/>
                </a:solidFill>
              </a:rPr>
              <a:t>结合情绪 × 精力 × 天气 × 时间，同时产出三方案。</a:t>
            </a:r>
          </a:p>
          <a:p>
            <a:pPr marL="0" indent="0">
              <a:lnSpc>
                <a:spcPts val="2000"/>
              </a:lnSpc>
              <a:buNone/>
            </a:pPr>
            <a:r>
              <a:rPr lang="zh-CN" sz="1400" dirty="0">
                <a:solidFill>
                  <a:srgbClr val="8A95A8"/>
                </a:solidFill>
              </a:rPr>
              <a:t>「三」是有得选但不焦虑的甜蜜点。</a:t>
            </a:r>
          </a:p>
        </p:txBody>
      </p:sp>
      <p:sp>
        <p:nvSpPr>
          <p:cNvPr id="640" name="Card3"/>
          <p:cNvSpPr/>
          <p:nvPr/>
        </p:nvSpPr>
        <p:spPr>
          <a:xfrm>
            <a:off x="8000000" y="1850000"/>
            <a:ext cx="3500000" cy="4400000"/>
          </a:xfrm>
          <a:prstGeom prst="roundRect">
            <a:avLst>
              <a:gd name="adj" fmla="val 5000"/>
            </a:avLst>
          </a:prstGeom>
          <a:solidFill>
            <a:srgbClr val="1A1F2A"/>
          </a:solidFill>
          <a:ln w="6350">
            <a:solidFill>
              <a:srgbClr val="FF8A5C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1" name="StampOuter"/>
          <p:cNvSpPr/>
          <p:nvPr/>
        </p:nvSpPr>
        <p:spPr>
          <a:xfrm rot="-1500000">
            <a:off x="8350000" y="2050000"/>
            <a:ext cx="900000" cy="900000"/>
          </a:xfrm>
          <a:prstGeom prst="ellipse">
            <a:avLst/>
          </a:prstGeom>
          <a:noFill/>
          <a:ln w="22225">
            <a:solidFill>
              <a:srgbClr val="FF8A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2" name="StampCheck"/>
          <p:cNvSpPr/>
          <p:nvPr/>
        </p:nvSpPr>
        <p:spPr>
          <a:xfrm rot="21411357">
            <a:off x="8500000" y="2200000"/>
            <a:ext cx="600000" cy="6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3200" b="1">
                <a:solidFill>
                  <a:srgbClr val="FF8A5C"/>
                </a:solidFill>
              </a:rPr>
              <a:t>✓</a:t>
            </a:r>
          </a:p>
        </p:txBody>
      </p:sp>
      <p:sp>
        <p:nvSpPr>
          <p:cNvPr id="643" name="Num3"/>
          <p:cNvSpPr txBox="1"/>
          <p:nvPr/>
        </p:nvSpPr>
        <p:spPr>
          <a:xfrm>
            <a:off x="10200000" y="2100000"/>
            <a:ext cx="1100000" cy="7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4800" b="1">
                <a:solidFill>
                  <a:srgbClr val="FF8A5C">
                    <a:alpha val="25000"/>
                  </a:srgbClr>
                </a:solidFill>
              </a:rPr>
              <a:t>03</a:t>
            </a:r>
          </a:p>
        </p:txBody>
      </p:sp>
      <p:sp>
        <p:nvSpPr>
          <p:cNvPr id="644" name="Label3"/>
          <p:cNvSpPr txBox="1"/>
          <p:nvPr/>
        </p:nvSpPr>
        <p:spPr>
          <a:xfrm>
            <a:off x="8250000" y="3050000"/>
            <a:ext cx="3000000" cy="40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200" b="1" spc="400">
                <a:solidFill>
                  <a:srgbClr val="FF8A5C"/>
                </a:solidFill>
              </a:rPr>
              <a:t>S T E P  0 3</a:t>
            </a:r>
          </a:p>
        </p:txBody>
      </p:sp>
      <p:sp>
        <p:nvSpPr>
          <p:cNvPr id="645" name="Head3"/>
          <p:cNvSpPr txBox="1"/>
          <p:nvPr/>
        </p:nvSpPr>
        <p:spPr>
          <a:xfrm>
            <a:off x="8250000" y="3500000"/>
            <a:ext cx="30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000" b="1">
                <a:solidFill>
                  <a:srgbClr val="F4F1EA"/>
                </a:solidFill>
              </a:rPr>
              <a:t>一键预约 Agent</a:t>
            </a:r>
          </a:p>
        </p:txBody>
      </p:sp>
      <p:sp>
        <p:nvSpPr>
          <p:cNvPr id="646" name="Body3"/>
          <p:cNvSpPr txBox="1"/>
          <p:nvPr/>
        </p:nvSpPr>
        <p:spPr>
          <a:xfrm>
            <a:off x="8250000" y="4350000"/>
            <a:ext cx="3000000" cy="1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2200"/>
              </a:lnSpc>
              <a:spcAft>
                <a:spcPts val="400"/>
              </a:spcAft>
              <a:buNone/>
            </a:pPr>
            <a:r>
              <a:rPr lang="zh-CN" sz="1400">
                <a:solidFill>
                  <a:srgbClr val="D8D4CA"/>
                </a:solidFill>
              </a:rPr>
              <a:t>订位、打车、门票 —— Agent 一次接管所有交易动作。</a:t>
            </a:r>
          </a:p>
          <a:p>
            <a:pPr marL="0" indent="0">
              <a:lnSpc>
                <a:spcPts val="2000"/>
              </a:lnSpc>
              <a:buNone/>
            </a:pPr>
            <a:r>
              <a:rPr lang="zh-CN" sz="1400">
                <a:solidFill>
                  <a:srgbClr val="8A95A8"/>
                </a:solidFill>
              </a:rPr>
              <a:t>消灭那个最劝退的瞬间：「算了，在家躺着吧。」</a:t>
            </a:r>
          </a:p>
        </p:txBody>
      </p:sp>
      <p:sp>
        <p:nvSpPr>
          <p:cNvPr id="660" name="Dot1"/>
          <p:cNvSpPr/>
          <p:nvPr/>
        </p:nvSpPr>
        <p:spPr>
          <a:xfrm>
            <a:off x="4150000" y="4140000"/>
            <a:ext cx="130000" cy="130000"/>
          </a:xfrm>
          <a:prstGeom prst="ellipse">
            <a:avLst/>
          </a:prstGeom>
          <a:solidFill>
            <a:srgbClr val="E8C7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1" name="Dot2"/>
          <p:cNvSpPr/>
          <p:nvPr/>
        </p:nvSpPr>
        <p:spPr>
          <a:xfrm>
            <a:off x="7800000" y="4140000"/>
            <a:ext cx="130000" cy="130000"/>
          </a:xfrm>
          <a:prstGeom prst="ellipse">
            <a:avLst/>
          </a:prstGeom>
          <a:solidFill>
            <a:srgbClr val="E8C7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0" name="Hook"/>
          <p:cNvSpPr txBox="1"/>
          <p:nvPr/>
        </p:nvSpPr>
        <p:spPr>
          <a:xfrm>
            <a:off x="685800" y="6420000"/>
            <a:ext cx="108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400">
                <a:solidFill>
                  <a:srgbClr val="8A95A8"/>
                </a:solidFill>
              </a:rPr>
              <a:t>我们先解决「便利」， 然后才有资格谈 ——　</a:t>
            </a:r>
            <a:r>
              <a:rPr lang="zh-CN" sz="1400" b="1">
                <a:solidFill>
                  <a:srgbClr val="E8C77A"/>
                </a:solidFill>
              </a:rPr>
              <a:t>建立在底座之上的三层情感体验。</a:t>
            </a:r>
          </a:p>
        </p:txBody>
      </p:sp>
      <p:sp>
        <p:nvSpPr>
          <p:cNvPr id="3" name="Sub">
            <a:extLst>
              <a:ext uri="{FF2B5EF4-FFF2-40B4-BE49-F238E27FC236}">
                <a16:creationId xmlns:a16="http://schemas.microsoft.com/office/drawing/2014/main" id="{2A367B9F-E7E2-CB62-1A7E-14ABAFB48BE0}"/>
              </a:ext>
            </a:extLst>
          </p:cNvPr>
          <p:cNvSpPr txBox="1"/>
          <p:nvPr/>
        </p:nvSpPr>
        <p:spPr>
          <a:xfrm>
            <a:off x="685800" y="1380000"/>
            <a:ext cx="110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zh-CN" altLang="en-US" sz="1500">
                <a:solidFill>
                  <a:srgbClr val="8A95A8"/>
                </a:solidFill>
              </a:rPr>
              <a:t>核心功能：一站式 </a:t>
            </a:r>
            <a:r>
              <a:rPr lang="en-GB" altLang="zh-CN" sz="1500">
                <a:solidFill>
                  <a:srgbClr val="8A95A8"/>
                </a:solidFill>
              </a:rPr>
              <a:t>AI Agent</a:t>
            </a:r>
          </a:p>
        </p:txBody>
      </p:sp>
    </p:spTree>
    <p:extLst>
      <p:ext uri="{BB962C8B-B14F-4D97-AF65-F5344CB8AC3E}">
        <p14:creationId xmlns:p14="http://schemas.microsoft.com/office/powerpoint/2010/main" val="224575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Tag">
            <a:extLst>
              <a:ext uri="{FF2B5EF4-FFF2-40B4-BE49-F238E27FC236}">
                <a16:creationId xmlns:a16="http://schemas.microsoft.com/office/drawing/2014/main" id="{29301B91-4FA6-2243-A3F5-A82DB037E73E}"/>
              </a:ext>
            </a:extLst>
          </p:cNvPr>
          <p:cNvSpPr txBox="1"/>
          <p:nvPr/>
        </p:nvSpPr>
        <p:spPr>
          <a:xfrm>
            <a:off x="685800" y="4445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>
              <a:buNone/>
              <a:defRPr sz="1200" spc="400">
                <a:solidFill>
                  <a:srgbClr val="5BE0C8"/>
                </a:solidFill>
              </a:defRPr>
            </a:lvl1pPr>
          </a:lstStyle>
          <a:p>
            <a:r>
              <a:rPr lang="en-US"/>
              <a:t>05  /  LAYER 01  ·  INNER  ·  QUEST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0FB1727-F986-9046-A104-91A14A7B118E}"/>
              </a:ext>
            </a:extLst>
          </p:cNvPr>
          <p:cNvSpPr txBox="1"/>
          <p:nvPr/>
        </p:nvSpPr>
        <p:spPr>
          <a:xfrm>
            <a:off x="685800" y="774700"/>
            <a:ext cx="7797800" cy="596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E8C77A"/>
                </a:solidFill>
              </a:rPr>
              <a:t>让每一次出门，自带剧本感</a:t>
            </a:r>
            <a:endParaRPr lang="en-US" sz="3200" b="1">
              <a:solidFill>
                <a:srgbClr val="E8C77A"/>
              </a:solidFill>
            </a:endParaRPr>
          </a:p>
        </p:txBody>
      </p:sp>
      <p:sp>
        <p:nvSpPr>
          <p:cNvPr id="4" name="Slogan">
            <a:extLst>
              <a:ext uri="{FF2B5EF4-FFF2-40B4-BE49-F238E27FC236}">
                <a16:creationId xmlns:a16="http://schemas.microsoft.com/office/drawing/2014/main" id="{092CFE70-1E15-5440-9F9F-2B5D989A9329}"/>
              </a:ext>
            </a:extLst>
          </p:cNvPr>
          <p:cNvSpPr txBox="1"/>
          <p:nvPr/>
        </p:nvSpPr>
        <p:spPr>
          <a:xfrm>
            <a:off x="7556500" y="1041400"/>
            <a:ext cx="3949700" cy="495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zh-CN" altLang="en-US" sz="1200" i="1">
                <a:solidFill>
                  <a:srgbClr val="8A95A8"/>
                </a:solidFill>
              </a:rPr>
              <a:t>“ 不是又一个</a:t>
            </a:r>
            <a:r>
              <a:rPr lang="en-US" sz="1200" i="1">
                <a:solidFill>
                  <a:srgbClr val="8A95A8"/>
                </a:solidFill>
              </a:rPr>
              <a:t>KPI，</a:t>
            </a:r>
            <a:r>
              <a:rPr lang="zh-CN" altLang="en-US" sz="1200" i="1">
                <a:solidFill>
                  <a:srgbClr val="8A95A8"/>
                </a:solidFill>
              </a:rPr>
              <a:t>而是一份温柔的剧本邀请 ”</a:t>
            </a:r>
            <a:endParaRPr lang="en-US" sz="1200" i="1">
              <a:solidFill>
                <a:srgbClr val="8A95A8"/>
              </a:solidFill>
            </a:endParaRPr>
          </a:p>
        </p:txBody>
      </p:sp>
      <p:sp>
        <p:nvSpPr>
          <p:cNvPr id="5" name="Sub">
            <a:extLst>
              <a:ext uri="{FF2B5EF4-FFF2-40B4-BE49-F238E27FC236}">
                <a16:creationId xmlns:a16="http://schemas.microsoft.com/office/drawing/2014/main" id="{70D71DBC-0C0E-2F4D-968C-E9F45358AA27}"/>
              </a:ext>
            </a:extLst>
          </p:cNvPr>
          <p:cNvSpPr txBox="1"/>
          <p:nvPr/>
        </p:nvSpPr>
        <p:spPr>
          <a:xfrm>
            <a:off x="685800" y="1384300"/>
            <a:ext cx="1099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dirty="0">
                <a:solidFill>
                  <a:srgbClr val="8A95A8"/>
                </a:solidFill>
              </a:rPr>
              <a:t>第一层 </a:t>
            </a:r>
            <a:r>
              <a:rPr lang="en-US" altLang="zh-CN" sz="1500" dirty="0">
                <a:solidFill>
                  <a:srgbClr val="8A95A8"/>
                </a:solidFill>
              </a:rPr>
              <a:t>· </a:t>
            </a:r>
            <a:r>
              <a:rPr lang="zh-CN" altLang="en-US" sz="1500" dirty="0">
                <a:solidFill>
                  <a:srgbClr val="8A95A8"/>
                </a:solidFill>
              </a:rPr>
              <a:t>个人 </a:t>
            </a:r>
            <a:r>
              <a:rPr lang="en-US" altLang="zh-CN" sz="1500" dirty="0">
                <a:solidFill>
                  <a:srgbClr val="8A95A8"/>
                </a:solidFill>
              </a:rPr>
              <a:t>· </a:t>
            </a:r>
            <a:r>
              <a:rPr lang="en-GB" sz="1500" dirty="0" err="1">
                <a:solidFill>
                  <a:srgbClr val="8A95A8"/>
                </a:solidFill>
              </a:rPr>
              <a:t>今日挑战</a:t>
            </a:r>
            <a:r>
              <a:rPr lang="zh-CN" altLang="en-US" sz="1500" dirty="0">
                <a:solidFill>
                  <a:srgbClr val="8A95A8"/>
                </a:solidFill>
              </a:rPr>
              <a:t>　</a:t>
            </a:r>
            <a:r>
              <a:rPr lang="en-US" altLang="zh-CN" sz="1500" dirty="0">
                <a:solidFill>
                  <a:srgbClr val="8A95A8"/>
                </a:solidFill>
              </a:rPr>
              <a:t>|</a:t>
            </a:r>
            <a:r>
              <a:rPr lang="zh-CN" altLang="en-US" sz="1500" dirty="0">
                <a:solidFill>
                  <a:srgbClr val="8A95A8"/>
                </a:solidFill>
              </a:rPr>
              <a:t>　给单次行程加一层叙事</a:t>
            </a:r>
            <a:endParaRPr lang="en-US" sz="1500" dirty="0">
              <a:solidFill>
                <a:srgbClr val="8A95A8"/>
              </a:solidFill>
            </a:endParaRPr>
          </a:p>
        </p:txBody>
      </p:sp>
      <p:sp>
        <p:nvSpPr>
          <p:cNvPr id="6" name="VennOuter">
            <a:extLst>
              <a:ext uri="{FF2B5EF4-FFF2-40B4-BE49-F238E27FC236}">
                <a16:creationId xmlns:a16="http://schemas.microsoft.com/office/drawing/2014/main" id="{8485E7E3-96B6-054E-A8F3-89C56A82CA36}"/>
              </a:ext>
            </a:extLst>
          </p:cNvPr>
          <p:cNvSpPr/>
          <p:nvPr/>
        </p:nvSpPr>
        <p:spPr>
          <a:xfrm flipV="1">
            <a:off x="571500" y="2413000"/>
            <a:ext cx="3302000" cy="1104900"/>
          </a:xfrm>
          <a:prstGeom prst="trapezoid">
            <a:avLst/>
          </a:prstGeom>
          <a:noFill/>
          <a:ln w="12700" cap="flat" cmpd="sng" algn="ctr">
            <a:solidFill>
              <a:srgbClr val="1A1F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VennMid">
            <a:extLst>
              <a:ext uri="{FF2B5EF4-FFF2-40B4-BE49-F238E27FC236}">
                <a16:creationId xmlns:a16="http://schemas.microsoft.com/office/drawing/2014/main" id="{489DEC72-0FFF-8840-8F4C-3C3CCCC52E69}"/>
              </a:ext>
            </a:extLst>
          </p:cNvPr>
          <p:cNvSpPr/>
          <p:nvPr/>
        </p:nvSpPr>
        <p:spPr>
          <a:xfrm flipV="1">
            <a:off x="1016000" y="3517900"/>
            <a:ext cx="2413000" cy="1104900"/>
          </a:xfrm>
          <a:prstGeom prst="trapezoid">
            <a:avLst/>
          </a:prstGeom>
          <a:noFill/>
          <a:ln w="12700" cap="flat" cmpd="sng" algn="ctr">
            <a:solidFill>
              <a:srgbClr val="1A1F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VennInner">
            <a:extLst>
              <a:ext uri="{FF2B5EF4-FFF2-40B4-BE49-F238E27FC236}">
                <a16:creationId xmlns:a16="http://schemas.microsoft.com/office/drawing/2014/main" id="{88A9D7BE-D0CF-BD4F-8F12-6D0D2CF391B6}"/>
              </a:ext>
            </a:extLst>
          </p:cNvPr>
          <p:cNvSpPr/>
          <p:nvPr/>
        </p:nvSpPr>
        <p:spPr>
          <a:xfrm flipV="1">
            <a:off x="1524000" y="4622800"/>
            <a:ext cx="1397000" cy="1092200"/>
          </a:xfrm>
          <a:prstGeom prst="trapezoid">
            <a:avLst/>
          </a:prstGeom>
          <a:solidFill>
            <a:srgbClr val="E8C7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Overflow="clip" horzOverflow="clip" wrap="none" rtlCol="0" anchor="ctr" anchorCtr="1">
            <a:noAutofit/>
          </a:bodyPr>
          <a:lstStyle/>
          <a:p>
            <a:pPr algn="ctr"/>
            <a:endParaRPr lang="en-US" sz="1400" b="1">
              <a:solidFill>
                <a:srgbClr val="0A0E14"/>
              </a:solidFill>
            </a:endParaRPr>
          </a:p>
        </p:txBody>
      </p:sp>
      <p:sp>
        <p:nvSpPr>
          <p:cNvPr id="9" name="VennMidLbl">
            <a:extLst>
              <a:ext uri="{FF2B5EF4-FFF2-40B4-BE49-F238E27FC236}">
                <a16:creationId xmlns:a16="http://schemas.microsoft.com/office/drawing/2014/main" id="{E38946E1-1155-2D40-AAB1-0505EEB90039}"/>
              </a:ext>
            </a:extLst>
          </p:cNvPr>
          <p:cNvSpPr txBox="1"/>
          <p:nvPr/>
        </p:nvSpPr>
        <p:spPr>
          <a:xfrm>
            <a:off x="1206500" y="3835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3A4050"/>
                </a:solidFill>
              </a:rPr>
              <a:t>城市</a:t>
            </a:r>
            <a:endParaRPr lang="en-US" sz="1000">
              <a:solidFill>
                <a:srgbClr val="3A4050"/>
              </a:solidFill>
            </a:endParaRPr>
          </a:p>
        </p:txBody>
      </p:sp>
      <p:sp>
        <p:nvSpPr>
          <p:cNvPr id="10" name="VennOutLbl">
            <a:extLst>
              <a:ext uri="{FF2B5EF4-FFF2-40B4-BE49-F238E27FC236}">
                <a16:creationId xmlns:a16="http://schemas.microsoft.com/office/drawing/2014/main" id="{406C8C57-DF4D-5948-B5D6-7A4373D1D547}"/>
              </a:ext>
            </a:extLst>
          </p:cNvPr>
          <p:cNvSpPr txBox="1"/>
          <p:nvPr/>
        </p:nvSpPr>
        <p:spPr>
          <a:xfrm>
            <a:off x="762000" y="273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3A4050"/>
                </a:solidFill>
              </a:rPr>
              <a:t>共鸣</a:t>
            </a:r>
            <a:endParaRPr lang="en-US" sz="1000">
              <a:solidFill>
                <a:srgbClr val="3A4050"/>
              </a:solidFill>
            </a:endParaRPr>
          </a:p>
        </p:txBody>
      </p:sp>
      <p:sp>
        <p:nvSpPr>
          <p:cNvPr id="11" name="VennCap">
            <a:extLst>
              <a:ext uri="{FF2B5EF4-FFF2-40B4-BE49-F238E27FC236}">
                <a16:creationId xmlns:a16="http://schemas.microsoft.com/office/drawing/2014/main" id="{5991F3EA-1855-5D4A-86B7-2E0870A917B2}"/>
              </a:ext>
            </a:extLst>
          </p:cNvPr>
          <p:cNvSpPr txBox="1"/>
          <p:nvPr/>
        </p:nvSpPr>
        <p:spPr>
          <a:xfrm>
            <a:off x="571500" y="5842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5BE0C8"/>
                </a:solidFill>
              </a:rPr>
              <a:t>LAYER 01 / 03</a:t>
            </a:r>
          </a:p>
        </p:txBody>
      </p:sp>
      <p:sp>
        <p:nvSpPr>
          <p:cNvPr id="12" name="ConceptCard">
            <a:extLst>
              <a:ext uri="{FF2B5EF4-FFF2-40B4-BE49-F238E27FC236}">
                <a16:creationId xmlns:a16="http://schemas.microsoft.com/office/drawing/2014/main" id="{14D76277-80BC-7B40-B7D0-C5C77F8AFEE9}"/>
              </a:ext>
            </a:extLst>
          </p:cNvPr>
          <p:cNvSpPr/>
          <p:nvPr/>
        </p:nvSpPr>
        <p:spPr>
          <a:xfrm>
            <a:off x="4318000" y="1905000"/>
            <a:ext cx="7188200" cy="1752600"/>
          </a:xfrm>
          <a:prstGeom prst="rect">
            <a:avLst/>
          </a:prstGeom>
          <a:solidFill>
            <a:srgbClr val="1A1F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1CDD0-E770-5E41-A91A-33A83BCCABC2}"/>
              </a:ext>
            </a:extLst>
          </p:cNvPr>
          <p:cNvSpPr txBox="1"/>
          <p:nvPr/>
        </p:nvSpPr>
        <p:spPr>
          <a:xfrm>
            <a:off x="4572000" y="20955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8A95A8"/>
                </a:solidFill>
              </a:rPr>
              <a:t>普通 </a:t>
            </a:r>
            <a:r>
              <a:rPr lang="en-US" sz="1100">
                <a:solidFill>
                  <a:srgbClr val="8A95A8"/>
                </a:solidFill>
              </a:rPr>
              <a:t>App </a:t>
            </a:r>
            <a:r>
              <a:rPr lang="zh-CN" altLang="en-US" sz="1100">
                <a:solidFill>
                  <a:srgbClr val="8A95A8"/>
                </a:solidFill>
              </a:rPr>
              <a:t>给你</a:t>
            </a:r>
            <a:endParaRPr lang="en-US" sz="1100">
              <a:solidFill>
                <a:srgbClr val="8A95A8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43669-83C8-714F-B970-F9589E1E1F0D}"/>
              </a:ext>
            </a:extLst>
          </p:cNvPr>
          <p:cNvSpPr txBox="1"/>
          <p:nvPr/>
        </p:nvSpPr>
        <p:spPr>
          <a:xfrm>
            <a:off x="6350000" y="2057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600">
                <a:solidFill>
                  <a:srgbClr val="8A95A8"/>
                </a:solidFill>
              </a:rPr>
              <a:t>一条预订信息</a:t>
            </a:r>
            <a:endParaRPr lang="en-US" sz="1600">
              <a:solidFill>
                <a:srgbClr val="8A95A8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56BC6-B83E-3943-AE06-49808E82895D}"/>
              </a:ext>
            </a:extLst>
          </p:cNvPr>
          <p:cNvSpPr/>
          <p:nvPr/>
        </p:nvSpPr>
        <p:spPr>
          <a:xfrm>
            <a:off x="4572000" y="2476500"/>
            <a:ext cx="6680200" cy="12700"/>
          </a:xfrm>
          <a:prstGeom prst="rect">
            <a:avLst/>
          </a:prstGeom>
          <a:solidFill>
            <a:srgbClr val="2A2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7358AD-50E5-9042-87BA-D27AA414C952}"/>
              </a:ext>
            </a:extLst>
          </p:cNvPr>
          <p:cNvSpPr txBox="1"/>
          <p:nvPr/>
        </p:nvSpPr>
        <p:spPr>
          <a:xfrm>
            <a:off x="4572000" y="26035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BE0C8"/>
                </a:solidFill>
              </a:rPr>
              <a:t>SoloVibe </a:t>
            </a:r>
            <a:r>
              <a:rPr lang="zh-CN" altLang="en-US" sz="1100">
                <a:solidFill>
                  <a:srgbClr val="5BE0C8"/>
                </a:solidFill>
              </a:rPr>
              <a:t>给你</a:t>
            </a:r>
            <a:endParaRPr lang="en-US" sz="1100">
              <a:solidFill>
                <a:srgbClr val="5BE0C8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1BE59E-9874-4549-AD1F-5E13D4DE98C4}"/>
              </a:ext>
            </a:extLst>
          </p:cNvPr>
          <p:cNvSpPr txBox="1"/>
          <p:nvPr/>
        </p:nvSpPr>
        <p:spPr>
          <a:xfrm>
            <a:off x="6350000" y="25654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600" b="1">
                <a:solidFill>
                  <a:srgbClr val="E8C77A"/>
                </a:solidFill>
              </a:rPr>
              <a:t>一段微型仪式</a:t>
            </a:r>
            <a:endParaRPr lang="en-US" sz="1600" b="1">
              <a:solidFill>
                <a:srgbClr val="E8C77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85166D-6A17-514E-B16D-6CBDC76480C7}"/>
              </a:ext>
            </a:extLst>
          </p:cNvPr>
          <p:cNvSpPr/>
          <p:nvPr/>
        </p:nvSpPr>
        <p:spPr>
          <a:xfrm>
            <a:off x="4572000" y="2984500"/>
            <a:ext cx="6680200" cy="12700"/>
          </a:xfrm>
          <a:prstGeom prst="rect">
            <a:avLst/>
          </a:prstGeom>
          <a:solidFill>
            <a:srgbClr val="2A2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8C0C6E-6E22-F845-BA23-DDF9C440A2C7}"/>
              </a:ext>
            </a:extLst>
          </p:cNvPr>
          <p:cNvSpPr txBox="1"/>
          <p:nvPr/>
        </p:nvSpPr>
        <p:spPr>
          <a:xfrm>
            <a:off x="4572000" y="3149600"/>
            <a:ext cx="668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i="1">
                <a:solidFill>
                  <a:srgbClr val="F4F1EA"/>
                </a:solidFill>
              </a:rPr>
              <a:t>同样一杯咖啡，可以是消费，也可以是仪式</a:t>
            </a:r>
            <a:endParaRPr lang="en-US" sz="1400" i="1">
              <a:solidFill>
                <a:srgbClr val="F4F1EA"/>
              </a:solidFill>
            </a:endParaRPr>
          </a:p>
        </p:txBody>
      </p:sp>
      <p:sp>
        <p:nvSpPr>
          <p:cNvPr id="20" name="QuestCard">
            <a:extLst>
              <a:ext uri="{FF2B5EF4-FFF2-40B4-BE49-F238E27FC236}">
                <a16:creationId xmlns:a16="http://schemas.microsoft.com/office/drawing/2014/main" id="{5D4BEBBF-93BF-6E4D-92A1-59575EB78742}"/>
              </a:ext>
            </a:extLst>
          </p:cNvPr>
          <p:cNvSpPr/>
          <p:nvPr/>
        </p:nvSpPr>
        <p:spPr>
          <a:xfrm>
            <a:off x="4318000" y="3937000"/>
            <a:ext cx="3429000" cy="2159000"/>
          </a:xfrm>
          <a:prstGeom prst="roundRect">
            <a:avLst/>
          </a:prstGeom>
          <a:solidFill>
            <a:srgbClr val="E8C7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918C86-9073-0445-8A90-6F2FA0E95505}"/>
              </a:ext>
            </a:extLst>
          </p:cNvPr>
          <p:cNvSpPr txBox="1"/>
          <p:nvPr/>
        </p:nvSpPr>
        <p:spPr>
          <a:xfrm>
            <a:off x="4508500" y="40894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/>
              <a:t>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F3EE69-9461-9346-B6BD-C8DD287DFFA5}"/>
              </a:ext>
            </a:extLst>
          </p:cNvPr>
          <p:cNvSpPr txBox="1"/>
          <p:nvPr/>
        </p:nvSpPr>
        <p:spPr>
          <a:xfrm>
            <a:off x="4953000" y="41529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0E14"/>
                </a:solidFill>
              </a:rPr>
              <a:t>TODAY'S QUEST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7FC680-AF2F-344B-9E3F-6B7ADDFF2C94}"/>
              </a:ext>
            </a:extLst>
          </p:cNvPr>
          <p:cNvSpPr txBox="1"/>
          <p:nvPr/>
        </p:nvSpPr>
        <p:spPr>
          <a:xfrm>
            <a:off x="4508500" y="4572000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zh-CN" altLang="en-US" sz="1600" b="1" dirty="0">
                <a:solidFill>
                  <a:srgbClr val="0A0E14"/>
                </a:solidFill>
              </a:rPr>
              <a:t>静谧午后：河边漫步与手冲咖啡</a:t>
            </a:r>
            <a:endParaRPr lang="en-US" sz="1600" b="1" dirty="0">
              <a:solidFill>
                <a:srgbClr val="0A0E14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95E146-6297-E54C-915D-5E90F86A2F6E}"/>
              </a:ext>
            </a:extLst>
          </p:cNvPr>
          <p:cNvSpPr txBox="1"/>
          <p:nvPr/>
        </p:nvSpPr>
        <p:spPr>
          <a:xfrm>
            <a:off x="4508500" y="56896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 i="1">
                <a:solidFill>
                  <a:srgbClr val="0A0E14"/>
                </a:solidFill>
              </a:rPr>
              <a:t>完成与否，由你定义</a:t>
            </a:r>
            <a:endParaRPr lang="en-US" sz="1000" i="1">
              <a:solidFill>
                <a:srgbClr val="0A0E14"/>
              </a:solidFill>
            </a:endParaRPr>
          </a:p>
        </p:txBody>
      </p:sp>
      <p:sp>
        <p:nvSpPr>
          <p:cNvPr id="25" name="HiddenCard">
            <a:extLst>
              <a:ext uri="{FF2B5EF4-FFF2-40B4-BE49-F238E27FC236}">
                <a16:creationId xmlns:a16="http://schemas.microsoft.com/office/drawing/2014/main" id="{637F3CA3-F657-AF4B-9049-910F1588DD03}"/>
              </a:ext>
            </a:extLst>
          </p:cNvPr>
          <p:cNvSpPr/>
          <p:nvPr/>
        </p:nvSpPr>
        <p:spPr>
          <a:xfrm>
            <a:off x="8001000" y="3937000"/>
            <a:ext cx="3505200" cy="2159000"/>
          </a:xfrm>
          <a:prstGeom prst="roundRect">
            <a:avLst/>
          </a:prstGeom>
          <a:solidFill>
            <a:srgbClr val="1A1F2A"/>
          </a:solidFill>
          <a:ln w="12700" cap="flat" cmpd="sng" algn="ctr">
            <a:solidFill>
              <a:srgbClr val="E8C7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397C3E-2BFD-5543-A859-D6F1C9ECDCDB}"/>
              </a:ext>
            </a:extLst>
          </p:cNvPr>
          <p:cNvSpPr txBox="1"/>
          <p:nvPr/>
        </p:nvSpPr>
        <p:spPr>
          <a:xfrm>
            <a:off x="8229600" y="40894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/>
              <a:t>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5DD11E-ABC2-5849-938D-B7B3A2D99E5A}"/>
              </a:ext>
            </a:extLst>
          </p:cNvPr>
          <p:cNvSpPr txBox="1"/>
          <p:nvPr/>
        </p:nvSpPr>
        <p:spPr>
          <a:xfrm>
            <a:off x="8674100" y="41529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E8C77A"/>
                </a:solidFill>
              </a:rPr>
              <a:t>HIDDEN ACHIEVEMENT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FF588D-EB02-A742-A5C8-8E6490F1367F}"/>
              </a:ext>
            </a:extLst>
          </p:cNvPr>
          <p:cNvSpPr txBox="1"/>
          <p:nvPr/>
        </p:nvSpPr>
        <p:spPr>
          <a:xfrm>
            <a:off x="8229600" y="4572000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600" b="1" dirty="0">
                <a:solidFill>
                  <a:srgbClr val="F4F1EA"/>
                </a:solidFill>
              </a:rPr>
              <a:t>和店员对视
微笑一次</a:t>
            </a:r>
            <a:endParaRPr lang="en-US" sz="1600" b="1" dirty="0">
              <a:solidFill>
                <a:srgbClr val="F4F1EA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C7063F-C8E4-EA40-A7E6-EF43D223A334}"/>
              </a:ext>
            </a:extLst>
          </p:cNvPr>
          <p:cNvSpPr txBox="1"/>
          <p:nvPr/>
        </p:nvSpPr>
        <p:spPr>
          <a:xfrm>
            <a:off x="8229600" y="56896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 i="1">
                <a:solidFill>
                  <a:srgbClr val="8A95A8"/>
                </a:solidFill>
              </a:rPr>
              <a:t>可选 </a:t>
            </a:r>
            <a:r>
              <a:rPr lang="en-US" altLang="zh-CN" sz="1000" i="1">
                <a:solidFill>
                  <a:srgbClr val="8A95A8"/>
                </a:solidFill>
              </a:rPr>
              <a:t>· </a:t>
            </a:r>
            <a:r>
              <a:rPr lang="zh-CN" altLang="en-US" sz="1000" i="1">
                <a:solidFill>
                  <a:srgbClr val="8A95A8"/>
                </a:solidFill>
              </a:rPr>
              <a:t>永不强制</a:t>
            </a:r>
            <a:endParaRPr lang="en-US" sz="1000" i="1">
              <a:solidFill>
                <a:srgbClr val="8A95A8"/>
              </a:solidFill>
            </a:endParaRPr>
          </a:p>
        </p:txBody>
      </p:sp>
      <p:sp>
        <p:nvSpPr>
          <p:cNvPr id="30" name="Hook">
            <a:extLst>
              <a:ext uri="{FF2B5EF4-FFF2-40B4-BE49-F238E27FC236}">
                <a16:creationId xmlns:a16="http://schemas.microsoft.com/office/drawing/2014/main" id="{1A5EDB75-1E34-A84D-9F34-4DA6AC715888}"/>
              </a:ext>
            </a:extLst>
          </p:cNvPr>
          <p:cNvSpPr txBox="1"/>
          <p:nvPr/>
        </p:nvSpPr>
        <p:spPr>
          <a:xfrm>
            <a:off x="685800" y="6426200"/>
            <a:ext cx="1079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8A95A8"/>
                </a:solidFill>
              </a:rPr>
              <a:t>对抗都市生活的扁平化 </a:t>
            </a:r>
            <a:r>
              <a:rPr lang="en-US" altLang="zh-CN" sz="1400">
                <a:solidFill>
                  <a:srgbClr val="8A95A8"/>
                </a:solidFill>
              </a:rPr>
              <a:t>—— </a:t>
            </a:r>
            <a:r>
              <a:rPr lang="zh-CN" altLang="en-US" sz="1400">
                <a:solidFill>
                  <a:srgbClr val="8A95A8"/>
                </a:solidFill>
              </a:rPr>
              <a:t>让独处的两个小时，拥有起承转合</a:t>
            </a:r>
            <a:endParaRPr lang="en-US" sz="1400">
              <a:solidFill>
                <a:srgbClr val="8A95A8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D0E3C4-F8B1-E62A-4813-B530373AFAC2}"/>
              </a:ext>
            </a:extLst>
          </p:cNvPr>
          <p:cNvSpPr txBox="1"/>
          <p:nvPr/>
        </p:nvSpPr>
        <p:spPr>
          <a:xfrm>
            <a:off x="1695398" y="4889500"/>
            <a:ext cx="994640" cy="546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>
            <a:defPPr>
              <a:defRPr lang="en-US"/>
            </a:defPPr>
            <a:lvl1pPr>
              <a:defRPr sz="1400" b="1">
                <a:solidFill>
                  <a:srgbClr val="0A0E14"/>
                </a:solidFill>
              </a:defRPr>
            </a:lvl1pPr>
          </a:lstStyle>
          <a:p>
            <a:pPr algn="ctr"/>
            <a:r>
              <a:rPr lang="zh-CN" altLang="en-US" dirty="0"/>
              <a:t>个人・</a:t>
            </a:r>
          </a:p>
          <a:p>
            <a:pPr algn="ctr"/>
            <a:r>
              <a:rPr lang="zh-CN" altLang="en-US" dirty="0"/>
              <a:t>今日挑战</a:t>
            </a:r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409380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7AE3B-66B5-8E4F-B813-4490DEECAAC8}"/>
              </a:ext>
            </a:extLst>
          </p:cNvPr>
          <p:cNvSpPr txBox="1"/>
          <p:nvPr/>
        </p:nvSpPr>
        <p:spPr>
          <a:xfrm>
            <a:off x="685800" y="444500"/>
            <a:ext cx="63500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buNone/>
              <a:defRPr sz="1200" spc="400">
                <a:solidFill>
                  <a:srgbClr val="5BE0C8"/>
                </a:solidFill>
              </a:defRPr>
            </a:lvl1pPr>
          </a:lstStyle>
          <a:p>
            <a:r>
              <a:rPr lang="en-US"/>
              <a:t>06  /  LAYER 02  ·  CITY  ·  QUEST 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8C41C-84B7-2A47-B587-61993B955934}"/>
              </a:ext>
            </a:extLst>
          </p:cNvPr>
          <p:cNvSpPr txBox="1"/>
          <p:nvPr/>
        </p:nvSpPr>
        <p:spPr>
          <a:xfrm>
            <a:off x="685800" y="774700"/>
            <a:ext cx="7797800" cy="596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E8C77A"/>
                </a:solidFill>
              </a:rPr>
              <a:t>你的城市，由你亲自定义边界</a:t>
            </a:r>
            <a:endParaRPr lang="en-US" sz="3200" b="1">
              <a:solidFill>
                <a:srgbClr val="E8C77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198B0-FE20-EB4E-A956-6F564C9D9CB1}"/>
              </a:ext>
            </a:extLst>
          </p:cNvPr>
          <p:cNvSpPr txBox="1"/>
          <p:nvPr/>
        </p:nvSpPr>
        <p:spPr>
          <a:xfrm>
            <a:off x="7772400" y="1041400"/>
            <a:ext cx="3733800" cy="495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zh-CN" altLang="en-US" sz="1200" i="1">
                <a:solidFill>
                  <a:srgbClr val="8A95A8"/>
                </a:solidFill>
              </a:rPr>
              <a:t>“ 内向型的收藏，不是外向型的征服 ”</a:t>
            </a:r>
            <a:endParaRPr lang="en-US" sz="1200" i="1">
              <a:solidFill>
                <a:srgbClr val="8A95A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21F8C-0B4E-534E-87A9-F74BFF4CD1DE}"/>
              </a:ext>
            </a:extLst>
          </p:cNvPr>
          <p:cNvSpPr txBox="1"/>
          <p:nvPr/>
        </p:nvSpPr>
        <p:spPr>
          <a:xfrm>
            <a:off x="685800" y="1384300"/>
            <a:ext cx="1099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>
                <a:solidFill>
                  <a:srgbClr val="8A95A8"/>
                </a:solidFill>
              </a:rPr>
              <a:t>第二层 </a:t>
            </a:r>
            <a:r>
              <a:rPr lang="en-US" altLang="zh-CN" sz="1500">
                <a:solidFill>
                  <a:srgbClr val="8A95A8"/>
                </a:solidFill>
              </a:rPr>
              <a:t>· </a:t>
            </a:r>
            <a:r>
              <a:rPr lang="zh-CN" altLang="en-US" sz="1500">
                <a:solidFill>
                  <a:srgbClr val="8A95A8"/>
                </a:solidFill>
              </a:rPr>
              <a:t>城市 </a:t>
            </a:r>
            <a:r>
              <a:rPr lang="en-US" altLang="zh-CN" sz="1500">
                <a:solidFill>
                  <a:srgbClr val="8A95A8"/>
                </a:solidFill>
              </a:rPr>
              <a:t>· </a:t>
            </a:r>
            <a:r>
              <a:rPr lang="zh-CN" altLang="en-US" sz="1500">
                <a:solidFill>
                  <a:srgbClr val="8A95A8"/>
                </a:solidFill>
              </a:rPr>
              <a:t>副本探索　</a:t>
            </a:r>
            <a:r>
              <a:rPr lang="en-US" altLang="zh-CN" sz="1500">
                <a:solidFill>
                  <a:srgbClr val="8A95A8"/>
                </a:solidFill>
              </a:rPr>
              <a:t>|</a:t>
            </a:r>
            <a:r>
              <a:rPr lang="zh-CN" altLang="en-US" sz="1500">
                <a:solidFill>
                  <a:srgbClr val="8A95A8"/>
                </a:solidFill>
              </a:rPr>
              <a:t>　把街道串成一张你的城市地图</a:t>
            </a:r>
            <a:endParaRPr lang="en-US" sz="1500">
              <a:solidFill>
                <a:srgbClr val="8A95A8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9D0A1B-C623-E94C-8001-EA8A37DAC472}"/>
              </a:ext>
            </a:extLst>
          </p:cNvPr>
          <p:cNvSpPr/>
          <p:nvPr/>
        </p:nvSpPr>
        <p:spPr>
          <a:xfrm flipV="1">
            <a:off x="571500" y="2413000"/>
            <a:ext cx="3302000" cy="1104900"/>
          </a:xfrm>
          <a:prstGeom prst="trapezoid">
            <a:avLst/>
          </a:prstGeom>
          <a:noFill/>
          <a:ln w="12700" cap="flat" cmpd="sng" algn="ctr">
            <a:solidFill>
              <a:srgbClr val="1A1F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14E861-5FE1-2849-A82C-24EF2AFA3D41}"/>
              </a:ext>
            </a:extLst>
          </p:cNvPr>
          <p:cNvSpPr/>
          <p:nvPr/>
        </p:nvSpPr>
        <p:spPr>
          <a:xfrm flipV="1">
            <a:off x="1016000" y="3517900"/>
            <a:ext cx="2413000" cy="1104900"/>
          </a:xfrm>
          <a:prstGeom prst="trapezoid">
            <a:avLst/>
          </a:prstGeom>
          <a:solidFill>
            <a:srgbClr val="E8C7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8DE2A4-8CC6-3B40-B444-CEE726F60A99}"/>
              </a:ext>
            </a:extLst>
          </p:cNvPr>
          <p:cNvSpPr/>
          <p:nvPr/>
        </p:nvSpPr>
        <p:spPr>
          <a:xfrm flipV="1">
            <a:off x="1524000" y="4622800"/>
            <a:ext cx="1397000" cy="1092200"/>
          </a:xfrm>
          <a:prstGeom prst="trapezoid">
            <a:avLst/>
          </a:prstGeom>
          <a:solidFill>
            <a:srgbClr val="1A1F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Overflow="clip" horzOverflow="clip" wrap="none" rtlCol="0" anchor="ctr" anchorCtr="1">
            <a:noAutofit/>
          </a:bodyPr>
          <a:lstStyle/>
          <a:p>
            <a:pPr algn="ctr"/>
            <a:r>
              <a:rPr lang="zh-CN" altLang="en-US" sz="1200">
                <a:solidFill>
                  <a:srgbClr val="5A5F6E"/>
                </a:solidFill>
              </a:rPr>
              <a:t>个人</a:t>
            </a:r>
            <a:endParaRPr lang="en-US" sz="1200">
              <a:solidFill>
                <a:srgbClr val="5A5F6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2C28E-FDA6-F541-AA41-C59FD97DDEEB}"/>
              </a:ext>
            </a:extLst>
          </p:cNvPr>
          <p:cNvSpPr txBox="1"/>
          <p:nvPr/>
        </p:nvSpPr>
        <p:spPr>
          <a:xfrm>
            <a:off x="1206500" y="3835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0A0E14"/>
                </a:solidFill>
              </a:rPr>
              <a:t>城市 </a:t>
            </a:r>
            <a:r>
              <a:rPr lang="en-US" altLang="zh-CN" sz="1400" b="1">
                <a:solidFill>
                  <a:srgbClr val="0A0E14"/>
                </a:solidFill>
              </a:rPr>
              <a:t>· </a:t>
            </a:r>
            <a:r>
              <a:rPr lang="zh-CN" altLang="en-US" sz="1400" b="1">
                <a:solidFill>
                  <a:srgbClr val="0A0E14"/>
                </a:solidFill>
              </a:rPr>
              <a:t>副本</a:t>
            </a:r>
            <a:endParaRPr lang="en-US" sz="1400" b="1">
              <a:solidFill>
                <a:srgbClr val="0A0E1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88355-354C-EA4D-9BAF-6392FE0EDC71}"/>
              </a:ext>
            </a:extLst>
          </p:cNvPr>
          <p:cNvSpPr txBox="1"/>
          <p:nvPr/>
        </p:nvSpPr>
        <p:spPr>
          <a:xfrm>
            <a:off x="762000" y="273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3A4050"/>
                </a:solidFill>
              </a:rPr>
              <a:t>共鸣</a:t>
            </a:r>
            <a:endParaRPr lang="en-US" sz="1000">
              <a:solidFill>
                <a:srgbClr val="3A4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1820D-4F56-914E-B03B-4EF304DD80A3}"/>
              </a:ext>
            </a:extLst>
          </p:cNvPr>
          <p:cNvSpPr txBox="1"/>
          <p:nvPr/>
        </p:nvSpPr>
        <p:spPr>
          <a:xfrm>
            <a:off x="571500" y="5842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5BE0C8"/>
                </a:solidFill>
              </a:rPr>
              <a:t>LAYER 02 / 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3515C-892C-A348-A8B8-A396581B0833}"/>
              </a:ext>
            </a:extLst>
          </p:cNvPr>
          <p:cNvSpPr/>
          <p:nvPr/>
        </p:nvSpPr>
        <p:spPr>
          <a:xfrm>
            <a:off x="4318000" y="1905000"/>
            <a:ext cx="7188200" cy="1270000"/>
          </a:xfrm>
          <a:prstGeom prst="rect">
            <a:avLst/>
          </a:prstGeom>
          <a:solidFill>
            <a:srgbClr val="1A1F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7C3DD-9633-D044-A951-259A92563AC4}"/>
              </a:ext>
            </a:extLst>
          </p:cNvPr>
          <p:cNvSpPr txBox="1"/>
          <p:nvPr/>
        </p:nvSpPr>
        <p:spPr>
          <a:xfrm>
            <a:off x="4572000" y="2057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8A95A8"/>
                </a:solidFill>
              </a:rPr>
              <a:t>大多数人眼中的城市</a:t>
            </a:r>
            <a:endParaRPr lang="en-US" sz="1100">
              <a:solidFill>
                <a:srgbClr val="8A95A8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D4D50-7A98-8C49-8097-3858F9DF1419}"/>
              </a:ext>
            </a:extLst>
          </p:cNvPr>
          <p:cNvSpPr txBox="1"/>
          <p:nvPr/>
        </p:nvSpPr>
        <p:spPr>
          <a:xfrm>
            <a:off x="7112000" y="20193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>
                <a:solidFill>
                  <a:srgbClr val="8A95A8"/>
                </a:solidFill>
              </a:rPr>
              <a:t>几个商场，几条网红街</a:t>
            </a:r>
            <a:endParaRPr lang="en-US" sz="1500">
              <a:solidFill>
                <a:srgbClr val="8A95A8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3434D-BFF1-894E-8999-CADC324874D2}"/>
              </a:ext>
            </a:extLst>
          </p:cNvPr>
          <p:cNvSpPr/>
          <p:nvPr/>
        </p:nvSpPr>
        <p:spPr>
          <a:xfrm>
            <a:off x="4572000" y="2476500"/>
            <a:ext cx="6680200" cy="12700"/>
          </a:xfrm>
          <a:prstGeom prst="rect">
            <a:avLst/>
          </a:prstGeom>
          <a:solidFill>
            <a:srgbClr val="2A2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F1F32-FE5A-D441-A02B-2A4273F640E0}"/>
              </a:ext>
            </a:extLst>
          </p:cNvPr>
          <p:cNvSpPr txBox="1"/>
          <p:nvPr/>
        </p:nvSpPr>
        <p:spPr>
          <a:xfrm>
            <a:off x="4572000" y="26289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5BE0C8"/>
                </a:solidFill>
              </a:rPr>
              <a:t>你眼中的城市</a:t>
            </a:r>
            <a:endParaRPr lang="en-US" sz="1100">
              <a:solidFill>
                <a:srgbClr val="5BE0C8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0BA7C3-BEDF-C842-8DE6-5AD3025D1F93}"/>
              </a:ext>
            </a:extLst>
          </p:cNvPr>
          <p:cNvSpPr txBox="1"/>
          <p:nvPr/>
        </p:nvSpPr>
        <p:spPr>
          <a:xfrm>
            <a:off x="7112000" y="25908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500" b="1">
                <a:solidFill>
                  <a:srgbClr val="E8C77A"/>
                </a:solidFill>
              </a:rPr>
              <a:t>12 </a:t>
            </a:r>
            <a:r>
              <a:rPr lang="zh-CN" altLang="en-US" sz="1500" b="1">
                <a:solidFill>
                  <a:srgbClr val="E8C77A"/>
                </a:solidFill>
              </a:rPr>
              <a:t>家小店  </a:t>
            </a:r>
            <a:r>
              <a:rPr lang="en-US" altLang="zh-CN" sz="1500" b="1">
                <a:solidFill>
                  <a:srgbClr val="E8C77A"/>
                </a:solidFill>
              </a:rPr>
              <a:t>·  3 </a:t>
            </a:r>
            <a:r>
              <a:rPr lang="zh-CN" altLang="en-US" sz="1500" b="1">
                <a:solidFill>
                  <a:srgbClr val="E8C77A"/>
                </a:solidFill>
              </a:rPr>
              <a:t>条隐藏路线  </a:t>
            </a:r>
            <a:r>
              <a:rPr lang="en-US" altLang="zh-CN" sz="1500" b="1">
                <a:solidFill>
                  <a:srgbClr val="E8C77A"/>
                </a:solidFill>
              </a:rPr>
              <a:t>·  7% </a:t>
            </a:r>
            <a:r>
              <a:rPr lang="zh-CN" altLang="en-US" sz="1500" b="1">
                <a:solidFill>
                  <a:srgbClr val="E8C77A"/>
                </a:solidFill>
              </a:rPr>
              <a:t>解锁版图</a:t>
            </a:r>
            <a:endParaRPr lang="en-US" sz="1500" b="1">
              <a:solidFill>
                <a:srgbClr val="E8C77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A734B3-E0FD-A044-8AAF-AEB09185AF6D}"/>
              </a:ext>
            </a:extLst>
          </p:cNvPr>
          <p:cNvSpPr/>
          <p:nvPr/>
        </p:nvSpPr>
        <p:spPr>
          <a:xfrm>
            <a:off x="4318000" y="3429000"/>
            <a:ext cx="1651000" cy="1206500"/>
          </a:xfrm>
          <a:prstGeom prst="rect">
            <a:avLst/>
          </a:prstGeom>
          <a:solidFill>
            <a:srgbClr val="1A1F2A"/>
          </a:solidFill>
          <a:ln w="12700" cap="flat" cmpd="sng" algn="ctr">
            <a:solidFill>
              <a:srgbClr val="2A2F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9CE2C9-836B-E641-B793-B3DF1C32C846}"/>
              </a:ext>
            </a:extLst>
          </p:cNvPr>
          <p:cNvSpPr txBox="1"/>
          <p:nvPr/>
        </p:nvSpPr>
        <p:spPr>
          <a:xfrm>
            <a:off x="4445000" y="3530600"/>
            <a:ext cx="35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/>
              <a:t>📍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380C8B-9FCD-FC4B-BCD5-65E724793603}"/>
              </a:ext>
            </a:extLst>
          </p:cNvPr>
          <p:cNvSpPr txBox="1"/>
          <p:nvPr/>
        </p:nvSpPr>
        <p:spPr>
          <a:xfrm>
            <a:off x="4826000" y="3581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已签到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319F6-33F8-104E-A7DE-A511D502192F}"/>
              </a:ext>
            </a:extLst>
          </p:cNvPr>
          <p:cNvSpPr txBox="1"/>
          <p:nvPr/>
        </p:nvSpPr>
        <p:spPr>
          <a:xfrm>
            <a:off x="4445000" y="39116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8C77A"/>
                </a:solidFill>
              </a:rPr>
              <a:t>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FB55C0-B1C5-7349-9893-A973B2292978}"/>
              </a:ext>
            </a:extLst>
          </p:cNvPr>
          <p:cNvSpPr txBox="1"/>
          <p:nvPr/>
        </p:nvSpPr>
        <p:spPr>
          <a:xfrm>
            <a:off x="4445000" y="43180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个地点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F1E92D-77C9-7C44-9626-27D6F91FB8F3}"/>
              </a:ext>
            </a:extLst>
          </p:cNvPr>
          <p:cNvSpPr/>
          <p:nvPr/>
        </p:nvSpPr>
        <p:spPr>
          <a:xfrm>
            <a:off x="6121400" y="3429000"/>
            <a:ext cx="1651000" cy="1206500"/>
          </a:xfrm>
          <a:prstGeom prst="rect">
            <a:avLst/>
          </a:prstGeom>
          <a:solidFill>
            <a:srgbClr val="1A1F2A"/>
          </a:solidFill>
          <a:ln w="12700" cap="flat" cmpd="sng" algn="ctr">
            <a:solidFill>
              <a:srgbClr val="2A2F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E7CC26-7D46-9643-A34E-5C1A52833F37}"/>
              </a:ext>
            </a:extLst>
          </p:cNvPr>
          <p:cNvSpPr txBox="1"/>
          <p:nvPr/>
        </p:nvSpPr>
        <p:spPr>
          <a:xfrm>
            <a:off x="6248400" y="3530600"/>
            <a:ext cx="35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/>
              <a:t>🗺️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B9F41-C8AA-2F40-9915-A758D6B62F1E}"/>
              </a:ext>
            </a:extLst>
          </p:cNvPr>
          <p:cNvSpPr txBox="1"/>
          <p:nvPr/>
        </p:nvSpPr>
        <p:spPr>
          <a:xfrm>
            <a:off x="6629400" y="3581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已点亮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88134F-EC9A-A044-9F40-7EE6902CA0E5}"/>
              </a:ext>
            </a:extLst>
          </p:cNvPr>
          <p:cNvSpPr txBox="1"/>
          <p:nvPr/>
        </p:nvSpPr>
        <p:spPr>
          <a:xfrm>
            <a:off x="6248400" y="39116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8C77A"/>
                </a:solidFill>
              </a:rPr>
              <a:t>7.2%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ACF518-0047-5843-9C71-06979B2F7C31}"/>
              </a:ext>
            </a:extLst>
          </p:cNvPr>
          <p:cNvSpPr txBox="1"/>
          <p:nvPr/>
        </p:nvSpPr>
        <p:spPr>
          <a:xfrm>
            <a:off x="6248400" y="43180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城市版图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0BADD5-CECD-F944-B072-DC808FADB68D}"/>
              </a:ext>
            </a:extLst>
          </p:cNvPr>
          <p:cNvSpPr/>
          <p:nvPr/>
        </p:nvSpPr>
        <p:spPr>
          <a:xfrm>
            <a:off x="7924800" y="3429000"/>
            <a:ext cx="1651000" cy="1206500"/>
          </a:xfrm>
          <a:prstGeom prst="rect">
            <a:avLst/>
          </a:prstGeom>
          <a:solidFill>
            <a:srgbClr val="1A1F2A"/>
          </a:solidFill>
          <a:ln w="12700" cap="flat" cmpd="sng" algn="ctr">
            <a:solidFill>
              <a:srgbClr val="2A2F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B57282-7D20-884C-BC4A-6C6CB95D3F09}"/>
              </a:ext>
            </a:extLst>
          </p:cNvPr>
          <p:cNvSpPr txBox="1"/>
          <p:nvPr/>
        </p:nvSpPr>
        <p:spPr>
          <a:xfrm>
            <a:off x="8051800" y="3530600"/>
            <a:ext cx="35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/>
              <a:t>🌿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C05435-7B62-084C-BE52-09591F9FFE2D}"/>
              </a:ext>
            </a:extLst>
          </p:cNvPr>
          <p:cNvSpPr txBox="1"/>
          <p:nvPr/>
        </p:nvSpPr>
        <p:spPr>
          <a:xfrm>
            <a:off x="8432800" y="3581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私人路线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60C2C7-61F1-414D-B7D1-95DD4416F4CD}"/>
              </a:ext>
            </a:extLst>
          </p:cNvPr>
          <p:cNvSpPr txBox="1"/>
          <p:nvPr/>
        </p:nvSpPr>
        <p:spPr>
          <a:xfrm>
            <a:off x="8051800" y="39116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8C77A"/>
                </a:solidFill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161C1D-F800-4349-BA8B-77B7452F542B}"/>
              </a:ext>
            </a:extLst>
          </p:cNvPr>
          <p:cNvSpPr txBox="1"/>
          <p:nvPr/>
        </p:nvSpPr>
        <p:spPr>
          <a:xfrm>
            <a:off x="8051800" y="43180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条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B003AC-AA2D-AD42-BB51-3E190B0E2DC9}"/>
              </a:ext>
            </a:extLst>
          </p:cNvPr>
          <p:cNvSpPr/>
          <p:nvPr/>
        </p:nvSpPr>
        <p:spPr>
          <a:xfrm>
            <a:off x="9728200" y="3429000"/>
            <a:ext cx="1651000" cy="1206500"/>
          </a:xfrm>
          <a:prstGeom prst="rect">
            <a:avLst/>
          </a:prstGeom>
          <a:solidFill>
            <a:srgbClr val="1A1F2A"/>
          </a:solidFill>
          <a:ln w="12700" cap="flat" cmpd="sng" algn="ctr">
            <a:solidFill>
              <a:srgbClr val="2A2F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A805B8-B245-1B49-A849-6E30E3FC7376}"/>
              </a:ext>
            </a:extLst>
          </p:cNvPr>
          <p:cNvSpPr txBox="1"/>
          <p:nvPr/>
        </p:nvSpPr>
        <p:spPr>
          <a:xfrm>
            <a:off x="9855200" y="3530600"/>
            <a:ext cx="35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/>
              <a:t>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B01924-A6A0-404D-A829-76C3F036BCCF}"/>
              </a:ext>
            </a:extLst>
          </p:cNvPr>
          <p:cNvSpPr txBox="1"/>
          <p:nvPr/>
        </p:nvSpPr>
        <p:spPr>
          <a:xfrm>
            <a:off x="10236200" y="3581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最常去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A8CF92-BBC6-DB41-ABC6-BE4DA37F62AF}"/>
              </a:ext>
            </a:extLst>
          </p:cNvPr>
          <p:cNvSpPr txBox="1"/>
          <p:nvPr/>
        </p:nvSpPr>
        <p:spPr>
          <a:xfrm>
            <a:off x="9855200" y="39116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2000" b="1">
                <a:solidFill>
                  <a:srgbClr val="E8C77A"/>
                </a:solidFill>
              </a:rPr>
              <a:t>静安区</a:t>
            </a:r>
            <a:endParaRPr lang="en-US" sz="2000" b="1">
              <a:solidFill>
                <a:srgbClr val="E8C77A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3F0833-D2F6-FB45-B84E-5B63F8A07D4B}"/>
              </a:ext>
            </a:extLst>
          </p:cNvPr>
          <p:cNvSpPr txBox="1"/>
          <p:nvPr/>
        </p:nvSpPr>
        <p:spPr>
          <a:xfrm>
            <a:off x="9855200" y="43180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000">
                <a:solidFill>
                  <a:srgbClr val="8A95A8"/>
                </a:solidFill>
              </a:rPr>
              <a:t>独立咖啡馆</a:t>
            </a:r>
            <a:endParaRPr lang="en-US" sz="1000">
              <a:solidFill>
                <a:srgbClr val="8A95A8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A224E2-0013-2B4B-A57B-5BCF71A541FD}"/>
              </a:ext>
            </a:extLst>
          </p:cNvPr>
          <p:cNvSpPr/>
          <p:nvPr/>
        </p:nvSpPr>
        <p:spPr>
          <a:xfrm>
            <a:off x="4318000" y="4889500"/>
            <a:ext cx="3556000" cy="1333500"/>
          </a:xfrm>
          <a:prstGeom prst="rect">
            <a:avLst/>
          </a:prstGeom>
          <a:solidFill>
            <a:srgbClr val="1A1F2A"/>
          </a:solidFill>
          <a:ln w="12700" cap="flat" cmpd="sng" algn="ctr">
            <a:solidFill>
              <a:srgbClr val="3A2A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558D1F-4CF5-6640-98B9-746B6EB46FDF}"/>
              </a:ext>
            </a:extLst>
          </p:cNvPr>
          <p:cNvSpPr txBox="1"/>
          <p:nvPr/>
        </p:nvSpPr>
        <p:spPr>
          <a:xfrm>
            <a:off x="4508500" y="50165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8A5C"/>
                </a:solidFill>
              </a:rPr>
              <a:t>✕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DE85E-FFE1-4547-B336-C1A4E202F703}"/>
              </a:ext>
            </a:extLst>
          </p:cNvPr>
          <p:cNvSpPr txBox="1"/>
          <p:nvPr/>
        </p:nvSpPr>
        <p:spPr>
          <a:xfrm>
            <a:off x="4826000" y="5054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FF8A5C"/>
                </a:solidFill>
              </a:rPr>
              <a:t>我们刻意没做</a:t>
            </a:r>
            <a:endParaRPr lang="en-US" sz="1100">
              <a:solidFill>
                <a:srgbClr val="FF8A5C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6A0299-FC2D-5649-AFEF-CBE70A3CC95C}"/>
              </a:ext>
            </a:extLst>
          </p:cNvPr>
          <p:cNvSpPr txBox="1"/>
          <p:nvPr/>
        </p:nvSpPr>
        <p:spPr>
          <a:xfrm>
            <a:off x="4508500" y="54610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8A95A8"/>
                </a:solidFill>
              </a:rPr>
              <a:t>占领商家  </a:t>
            </a:r>
            <a:r>
              <a:rPr lang="en-US" altLang="zh-CN" sz="1400">
                <a:solidFill>
                  <a:srgbClr val="8A95A8"/>
                </a:solidFill>
              </a:rPr>
              <a:t>·  </a:t>
            </a:r>
            <a:r>
              <a:rPr lang="zh-CN" altLang="en-US" sz="1400">
                <a:solidFill>
                  <a:srgbClr val="8A95A8"/>
                </a:solidFill>
              </a:rPr>
              <a:t>踢馆 </a:t>
            </a:r>
            <a:r>
              <a:rPr lang="en-US" sz="1400">
                <a:solidFill>
                  <a:srgbClr val="8A95A8"/>
                </a:solidFill>
              </a:rPr>
              <a:t>PK  ·  </a:t>
            </a:r>
            <a:r>
              <a:rPr lang="zh-CN" altLang="en-US" sz="1400">
                <a:solidFill>
                  <a:srgbClr val="8A95A8"/>
                </a:solidFill>
              </a:rPr>
              <a:t>排行榜竞争</a:t>
            </a:r>
            <a:endParaRPr lang="en-US" sz="1400">
              <a:solidFill>
                <a:srgbClr val="8A95A8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7C734B-3222-3A43-8FFD-DA2600B9E3F7}"/>
              </a:ext>
            </a:extLst>
          </p:cNvPr>
          <p:cNvSpPr/>
          <p:nvPr/>
        </p:nvSpPr>
        <p:spPr>
          <a:xfrm>
            <a:off x="7950200" y="4889500"/>
            <a:ext cx="3556000" cy="1333500"/>
          </a:xfrm>
          <a:prstGeom prst="rect">
            <a:avLst/>
          </a:prstGeom>
          <a:solidFill>
            <a:srgbClr val="1A1F2A"/>
          </a:solidFill>
          <a:ln w="12700" cap="flat" cmpd="sng" algn="ctr">
            <a:solidFill>
              <a:srgbClr val="E8C7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00BAE-7F92-BF40-9332-74837A4401C7}"/>
              </a:ext>
            </a:extLst>
          </p:cNvPr>
          <p:cNvSpPr txBox="1"/>
          <p:nvPr/>
        </p:nvSpPr>
        <p:spPr>
          <a:xfrm>
            <a:off x="8140700" y="50165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E8C77A"/>
                </a:solidFill>
              </a:rPr>
              <a:t>◯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D1294B-95A8-5746-A97B-7FD40D36CD47}"/>
              </a:ext>
            </a:extLst>
          </p:cNvPr>
          <p:cNvSpPr txBox="1"/>
          <p:nvPr/>
        </p:nvSpPr>
        <p:spPr>
          <a:xfrm>
            <a:off x="8458200" y="5054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E8C77A"/>
                </a:solidFill>
              </a:rPr>
              <a:t>我们坚持做的</a:t>
            </a:r>
            <a:endParaRPr lang="en-US" sz="1100">
              <a:solidFill>
                <a:srgbClr val="E8C77A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14BCD1-468F-CC40-B771-09C7804FD8E8}"/>
              </a:ext>
            </a:extLst>
          </p:cNvPr>
          <p:cNvSpPr txBox="1"/>
          <p:nvPr/>
        </p:nvSpPr>
        <p:spPr>
          <a:xfrm>
            <a:off x="8140700" y="54610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F4F1EA"/>
                </a:solidFill>
              </a:rPr>
              <a:t>安静地、属于你自己的痕迹积累</a:t>
            </a:r>
            <a:endParaRPr lang="en-US" sz="1400" b="1">
              <a:solidFill>
                <a:srgbClr val="F4F1EA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69EEBA-CA8B-D34F-955D-C664960284DF}"/>
              </a:ext>
            </a:extLst>
          </p:cNvPr>
          <p:cNvSpPr txBox="1"/>
          <p:nvPr/>
        </p:nvSpPr>
        <p:spPr>
          <a:xfrm>
            <a:off x="685800" y="6426200"/>
            <a:ext cx="1079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8A95A8"/>
                </a:solidFill>
              </a:rPr>
              <a:t>城市不是背景板，是你的私人收藏</a:t>
            </a:r>
            <a:endParaRPr lang="en-US" sz="1400">
              <a:solidFill>
                <a:srgbClr val="8A95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857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FA7F6-ED7C-A545-9385-C8B67968B3F4}"/>
              </a:ext>
            </a:extLst>
          </p:cNvPr>
          <p:cNvSpPr txBox="1"/>
          <p:nvPr/>
        </p:nvSpPr>
        <p:spPr>
          <a:xfrm>
            <a:off x="685800" y="444500"/>
            <a:ext cx="76200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buNone/>
              <a:defRPr sz="1200" spc="400">
                <a:solidFill>
                  <a:srgbClr val="5BE0C8"/>
                </a:solidFill>
              </a:defRPr>
            </a:lvl1pPr>
          </a:lstStyle>
          <a:p>
            <a:r>
              <a:rPr lang="en-US"/>
              <a:t>07  /  LAYER 03  ·  RESONANCE  ·  PARALLEL GLOW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F25A4-FF24-D54B-92D1-4F9713D6E628}"/>
              </a:ext>
            </a:extLst>
          </p:cNvPr>
          <p:cNvSpPr txBox="1"/>
          <p:nvPr/>
        </p:nvSpPr>
        <p:spPr>
          <a:xfrm>
            <a:off x="685800" y="774700"/>
            <a:ext cx="7797800" cy="596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E8C77A"/>
                </a:solidFill>
              </a:rPr>
              <a:t>孤独，但不孤立</a:t>
            </a:r>
            <a:endParaRPr lang="en-US" sz="3200" b="1">
              <a:solidFill>
                <a:srgbClr val="E8C77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6A27B-7F15-B047-A13D-04FE9ADE056F}"/>
              </a:ext>
            </a:extLst>
          </p:cNvPr>
          <p:cNvSpPr txBox="1"/>
          <p:nvPr/>
        </p:nvSpPr>
        <p:spPr>
          <a:xfrm>
            <a:off x="8204200" y="1041400"/>
            <a:ext cx="3302000" cy="495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zh-CN" altLang="en-US" sz="1200" i="1">
                <a:solidFill>
                  <a:srgbClr val="8A95A8"/>
                </a:solidFill>
              </a:rPr>
              <a:t>“ 平行存在，各自浪漫 ”</a:t>
            </a:r>
            <a:endParaRPr lang="en-US" sz="1200" i="1">
              <a:solidFill>
                <a:srgbClr val="8A95A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F3DA5-65E4-BC4C-A153-B79D1ACE59AA}"/>
              </a:ext>
            </a:extLst>
          </p:cNvPr>
          <p:cNvSpPr txBox="1"/>
          <p:nvPr/>
        </p:nvSpPr>
        <p:spPr>
          <a:xfrm>
            <a:off x="685800" y="1384300"/>
            <a:ext cx="1099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zh-CN" altLang="en-US" sz="1500" dirty="0">
                <a:solidFill>
                  <a:srgbClr val="8A95A8"/>
                </a:solidFill>
              </a:rPr>
              <a:t>第三层 </a:t>
            </a:r>
            <a:r>
              <a:rPr lang="en-US" altLang="zh-CN" sz="1500" dirty="0">
                <a:solidFill>
                  <a:srgbClr val="8A95A8"/>
                </a:solidFill>
              </a:rPr>
              <a:t>· </a:t>
            </a:r>
            <a:r>
              <a:rPr lang="zh-CN" altLang="en-US" sz="1500" dirty="0">
                <a:solidFill>
                  <a:srgbClr val="8A95A8"/>
                </a:solidFill>
              </a:rPr>
              <a:t>共鸣 </a:t>
            </a:r>
            <a:r>
              <a:rPr lang="en-US" altLang="zh-CN" sz="1500" dirty="0">
                <a:solidFill>
                  <a:srgbClr val="8A95A8"/>
                </a:solidFill>
              </a:rPr>
              <a:t>· </a:t>
            </a:r>
            <a:r>
              <a:rPr lang="zh-CN" altLang="en-US" sz="1500" dirty="0">
                <a:solidFill>
                  <a:srgbClr val="8A95A8"/>
                </a:solidFill>
              </a:rPr>
              <a:t>发现同路人　</a:t>
            </a:r>
            <a:r>
              <a:rPr lang="en-US" altLang="zh-CN" sz="1500" dirty="0">
                <a:solidFill>
                  <a:srgbClr val="8A95A8"/>
                </a:solidFill>
              </a:rPr>
              <a:t>|</a:t>
            </a:r>
            <a:r>
              <a:rPr lang="zh-CN" altLang="en-US" sz="1500" dirty="0">
                <a:solidFill>
                  <a:srgbClr val="8A95A8"/>
                </a:solidFill>
              </a:rPr>
              <a:t>　感受到同类，但绝不是交友软件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350E2C-7B0F-A648-9C85-987DB48C539E}"/>
              </a:ext>
            </a:extLst>
          </p:cNvPr>
          <p:cNvSpPr/>
          <p:nvPr/>
        </p:nvSpPr>
        <p:spPr>
          <a:xfrm flipV="1">
            <a:off x="571500" y="2413000"/>
            <a:ext cx="3302000" cy="1104900"/>
          </a:xfrm>
          <a:prstGeom prst="trapezoid">
            <a:avLst/>
          </a:prstGeom>
          <a:solidFill>
            <a:srgbClr val="E8C7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0993D3-6805-E542-A8CA-9140150E9658}"/>
              </a:ext>
            </a:extLst>
          </p:cNvPr>
          <p:cNvSpPr/>
          <p:nvPr/>
        </p:nvSpPr>
        <p:spPr>
          <a:xfrm flipV="1">
            <a:off x="1016000" y="3517900"/>
            <a:ext cx="2413000" cy="1104900"/>
          </a:xfrm>
          <a:prstGeom prst="trapezoid">
            <a:avLst/>
          </a:prstGeom>
          <a:solidFill>
            <a:srgbClr val="1A1F2A"/>
          </a:solidFill>
          <a:ln w="12700" cap="flat" cmpd="sng" algn="ctr">
            <a:solidFill>
              <a:srgbClr val="3A3F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5BEC82-3BF4-AA42-9769-9CA3335D70BC}"/>
              </a:ext>
            </a:extLst>
          </p:cNvPr>
          <p:cNvSpPr/>
          <p:nvPr/>
        </p:nvSpPr>
        <p:spPr>
          <a:xfrm flipV="1">
            <a:off x="1524000" y="4622800"/>
            <a:ext cx="1397000" cy="1092200"/>
          </a:xfrm>
          <a:prstGeom prst="trapezoid">
            <a:avLst/>
          </a:prstGeom>
          <a:solidFill>
            <a:srgbClr val="0A0E14"/>
          </a:solidFill>
          <a:ln w="12700" cap="flat" cmpd="sng" algn="ctr">
            <a:solidFill>
              <a:srgbClr val="3A3F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Overflow="clip" horzOverflow="clip" wrap="none" rtlCol="0" anchor="ctr" anchorCtr="1">
            <a:noAutofit/>
          </a:bodyPr>
          <a:lstStyle/>
          <a:p>
            <a:pPr algn="ctr"/>
            <a:r>
              <a:rPr lang="zh-CN" altLang="en-US" sz="1100">
                <a:solidFill>
                  <a:srgbClr val="5A5F6E"/>
                </a:solidFill>
              </a:rPr>
              <a:t>个人</a:t>
            </a:r>
            <a:endParaRPr lang="en-US" sz="1100">
              <a:solidFill>
                <a:srgbClr val="5A5F6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410E9-610F-044F-AFFA-B97F0E9D19E9}"/>
              </a:ext>
            </a:extLst>
          </p:cNvPr>
          <p:cNvSpPr txBox="1"/>
          <p:nvPr/>
        </p:nvSpPr>
        <p:spPr>
          <a:xfrm>
            <a:off x="1206500" y="3835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5A5F6E"/>
                </a:solidFill>
              </a:rPr>
              <a:t>城市</a:t>
            </a:r>
            <a:endParaRPr lang="en-US" sz="1100">
              <a:solidFill>
                <a:srgbClr val="5A5F6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4C4945-55A7-D04D-B971-E4DEEF2F3EBA}"/>
              </a:ext>
            </a:extLst>
          </p:cNvPr>
          <p:cNvSpPr txBox="1"/>
          <p:nvPr/>
        </p:nvSpPr>
        <p:spPr>
          <a:xfrm>
            <a:off x="762000" y="273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zh-CN" altLang="en-US" sz="1400" b="1">
                <a:solidFill>
                  <a:srgbClr val="0A0E14"/>
                </a:solidFill>
              </a:rPr>
              <a:t>共鸣 </a:t>
            </a:r>
            <a:r>
              <a:rPr lang="en-US" altLang="zh-CN" sz="1400" b="1">
                <a:solidFill>
                  <a:srgbClr val="0A0E14"/>
                </a:solidFill>
              </a:rPr>
              <a:t>· </a:t>
            </a:r>
            <a:r>
              <a:rPr lang="zh-CN" altLang="en-US" sz="1400" b="1">
                <a:solidFill>
                  <a:srgbClr val="0A0E14"/>
                </a:solidFill>
              </a:rPr>
              <a:t>发现同路人</a:t>
            </a:r>
            <a:endParaRPr lang="en-US" sz="1400" b="1">
              <a:solidFill>
                <a:srgbClr val="0A0E1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B4BFFC-93A0-E742-92DC-EBA5223F4C18}"/>
              </a:ext>
            </a:extLst>
          </p:cNvPr>
          <p:cNvSpPr txBox="1"/>
          <p:nvPr/>
        </p:nvSpPr>
        <p:spPr>
          <a:xfrm>
            <a:off x="571500" y="5969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5BE0C8"/>
                </a:solidFill>
              </a:rPr>
              <a:t>LAYER 03 / 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67214-1293-334A-88D0-0607DCA3E573}"/>
              </a:ext>
            </a:extLst>
          </p:cNvPr>
          <p:cNvSpPr txBox="1"/>
          <p:nvPr/>
        </p:nvSpPr>
        <p:spPr>
          <a:xfrm>
            <a:off x="4318000" y="2095500"/>
            <a:ext cx="3628265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900">
                <a:solidFill>
                  <a:srgbClr val="F4F1EA"/>
                </a:solidFill>
              </a:rPr>
              <a:t>连接的最高形态　不是对话
而是 </a:t>
            </a:r>
            <a:r>
              <a:rPr lang="en-US" altLang="zh-CN" sz="1900">
                <a:solidFill>
                  <a:srgbClr val="F4F1EA"/>
                </a:solidFill>
              </a:rPr>
              <a:t>—— </a:t>
            </a:r>
            <a:r>
              <a:rPr lang="zh-CN" altLang="en-US" sz="1900">
                <a:solidFill>
                  <a:srgbClr val="F4F1EA"/>
                </a:solidFill>
              </a:rPr>
              <a:t>意识到对方的存在</a:t>
            </a:r>
            <a:endParaRPr lang="en-US" sz="1900">
              <a:solidFill>
                <a:srgbClr val="F4F1EA"/>
              </a:solidFill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585B968-83BB-5EB7-406D-277602898578}"/>
              </a:ext>
            </a:extLst>
          </p:cNvPr>
          <p:cNvGrpSpPr/>
          <p:nvPr/>
        </p:nvGrpSpPr>
        <p:grpSpPr>
          <a:xfrm>
            <a:off x="4318000" y="2895190"/>
            <a:ext cx="3628265" cy="2134010"/>
            <a:chOff x="4318000" y="3429000"/>
            <a:chExt cx="3628265" cy="1600200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D4048799-1FF3-B36E-ECFB-199C8275BE8C}"/>
                </a:ext>
              </a:extLst>
            </p:cNvPr>
            <p:cNvGrpSpPr/>
            <p:nvPr/>
          </p:nvGrpSpPr>
          <p:grpSpPr>
            <a:xfrm>
              <a:off x="4318000" y="3429000"/>
              <a:ext cx="3628265" cy="457200"/>
              <a:chOff x="4318000" y="3429000"/>
              <a:chExt cx="3628265" cy="457200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28945E92-5099-FA4E-AE24-8DC911CAAC65}"/>
                  </a:ext>
                </a:extLst>
              </p:cNvPr>
              <p:cNvSpPr/>
              <p:nvPr/>
            </p:nvSpPr>
            <p:spPr>
              <a:xfrm>
                <a:off x="4318000" y="3429000"/>
                <a:ext cx="3628265" cy="457200"/>
              </a:xfrm>
              <a:prstGeom prst="roundRect">
                <a:avLst/>
              </a:prstGeom>
              <a:solidFill>
                <a:srgbClr val="141821"/>
              </a:solidFill>
              <a:ln w="12700" cap="flat" cmpd="sng" algn="ctr">
                <a:solidFill>
                  <a:srgbClr val="2A2F3A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2716ED-276E-F84A-96AD-6DC250312CF4}"/>
                  </a:ext>
                </a:extLst>
              </p:cNvPr>
              <p:cNvSpPr txBox="1"/>
              <p:nvPr/>
            </p:nvSpPr>
            <p:spPr>
              <a:xfrm>
                <a:off x="4407745" y="3505200"/>
                <a:ext cx="17949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400"/>
                  <a:t>🌙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9D8F11-91FF-1B4C-954D-8A5F9841F3A5}"/>
                  </a:ext>
                </a:extLst>
              </p:cNvPr>
              <p:cNvSpPr txBox="1"/>
              <p:nvPr/>
            </p:nvSpPr>
            <p:spPr>
              <a:xfrm>
                <a:off x="4612877" y="3492500"/>
                <a:ext cx="1035448" cy="330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600" b="1">
                    <a:solidFill>
                      <a:srgbClr val="E8C77A"/>
                    </a:solidFill>
                  </a:rPr>
                  <a:t>127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3493AB-A12D-E048-BCFD-4F21ED9E08D0}"/>
                  </a:ext>
                </a:extLst>
              </p:cNvPr>
              <p:cNvSpPr txBox="1"/>
              <p:nvPr/>
            </p:nvSpPr>
            <p:spPr>
              <a:xfrm>
                <a:off x="5512157" y="3467093"/>
                <a:ext cx="2408465" cy="41910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zh-CN" altLang="en-US" sz="1400">
                    <a:solidFill>
                      <a:srgbClr val="8A95A8"/>
                    </a:solidFill>
                  </a:rPr>
                  <a:t>人正在独自漫游  </a:t>
                </a:r>
                <a:r>
                  <a:rPr lang="en-US" altLang="zh-CN" sz="1400">
                    <a:solidFill>
                      <a:srgbClr val="8A95A8"/>
                    </a:solidFill>
                  </a:rPr>
                  <a:t>·  </a:t>
                </a:r>
                <a:r>
                  <a:rPr lang="zh-CN" altLang="en-US" sz="1400">
                    <a:solidFill>
                      <a:srgbClr val="8A95A8"/>
                    </a:solidFill>
                  </a:rPr>
                  <a:t>此刻，在你的城市</a:t>
                </a:r>
                <a:endParaRPr lang="en-US" sz="1400">
                  <a:solidFill>
                    <a:srgbClr val="8A95A8"/>
                  </a:solidFill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C96BB62C-B2ED-547C-DE9D-66CECF375D7E}"/>
                </a:ext>
              </a:extLst>
            </p:cNvPr>
            <p:cNvGrpSpPr/>
            <p:nvPr/>
          </p:nvGrpSpPr>
          <p:grpSpPr>
            <a:xfrm>
              <a:off x="4318000" y="4000500"/>
              <a:ext cx="3628265" cy="457200"/>
              <a:chOff x="4318000" y="4000500"/>
              <a:chExt cx="3628265" cy="457200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E42FBA33-9130-6D4F-B315-3E691C49AB37}"/>
                  </a:ext>
                </a:extLst>
              </p:cNvPr>
              <p:cNvSpPr/>
              <p:nvPr/>
            </p:nvSpPr>
            <p:spPr>
              <a:xfrm>
                <a:off x="4318000" y="4000500"/>
                <a:ext cx="3628265" cy="457200"/>
              </a:xfrm>
              <a:prstGeom prst="roundRect">
                <a:avLst/>
              </a:prstGeom>
              <a:solidFill>
                <a:srgbClr val="141821"/>
              </a:solidFill>
              <a:ln w="12700" cap="flat" cmpd="sng" algn="ctr">
                <a:solidFill>
                  <a:srgbClr val="2A2F3A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84BE67-BEF4-9E44-8FDB-29898F73A98F}"/>
                  </a:ext>
                </a:extLst>
              </p:cNvPr>
              <p:cNvSpPr txBox="1"/>
              <p:nvPr/>
            </p:nvSpPr>
            <p:spPr>
              <a:xfrm>
                <a:off x="4407745" y="4076700"/>
                <a:ext cx="17949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400"/>
                  <a:t>🕯️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1077254-D5A3-2C4F-A56C-1C4F825B4998}"/>
                  </a:ext>
                </a:extLst>
              </p:cNvPr>
              <p:cNvSpPr txBox="1"/>
              <p:nvPr/>
            </p:nvSpPr>
            <p:spPr>
              <a:xfrm>
                <a:off x="4612877" y="4064000"/>
                <a:ext cx="1035448" cy="330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altLang="zh-CN" sz="1600" b="1">
                    <a:solidFill>
                      <a:srgbClr val="E8C77A"/>
                    </a:solidFill>
                  </a:rPr>
                  <a:t>3 </a:t>
                </a:r>
                <a:r>
                  <a:rPr lang="zh-CN" altLang="en-US" sz="1600" b="1">
                    <a:solidFill>
                      <a:srgbClr val="E8C77A"/>
                    </a:solidFill>
                  </a:rPr>
                  <a:t>个人</a:t>
                </a:r>
                <a:endParaRPr lang="en-US" sz="1600" b="1">
                  <a:solidFill>
                    <a:srgbClr val="E8C77A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ABC544-C238-104D-A889-8BDE1A42130F}"/>
                  </a:ext>
                </a:extLst>
              </p:cNvPr>
              <p:cNvSpPr txBox="1"/>
              <p:nvPr/>
            </p:nvSpPr>
            <p:spPr>
              <a:xfrm>
                <a:off x="5512157" y="4089400"/>
                <a:ext cx="2408465" cy="279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zh-CN" altLang="en-US" sz="1400">
                    <a:solidFill>
                      <a:srgbClr val="8A95A8"/>
                    </a:solidFill>
                  </a:rPr>
                  <a:t>今天和你完成了同一个 </a:t>
                </a:r>
                <a:r>
                  <a:rPr lang="en-US" sz="1400">
                    <a:solidFill>
                      <a:srgbClr val="8A95A8"/>
                    </a:solidFill>
                  </a:rPr>
                  <a:t>Quest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571BB1A-44F2-2D55-7662-5B96D7248A56}"/>
                </a:ext>
              </a:extLst>
            </p:cNvPr>
            <p:cNvGrpSpPr/>
            <p:nvPr/>
          </p:nvGrpSpPr>
          <p:grpSpPr>
            <a:xfrm>
              <a:off x="4318000" y="4572000"/>
              <a:ext cx="3628265" cy="457200"/>
              <a:chOff x="4318000" y="4572000"/>
              <a:chExt cx="3628265" cy="45720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6C523CC8-E2AA-3A4E-9548-AF3E63CF303F}"/>
                  </a:ext>
                </a:extLst>
              </p:cNvPr>
              <p:cNvSpPr/>
              <p:nvPr/>
            </p:nvSpPr>
            <p:spPr>
              <a:xfrm>
                <a:off x="4318000" y="4572000"/>
                <a:ext cx="3628265" cy="457200"/>
              </a:xfrm>
              <a:prstGeom prst="roundRect">
                <a:avLst/>
              </a:prstGeom>
              <a:solidFill>
                <a:srgbClr val="141821"/>
              </a:solidFill>
              <a:ln w="12700" cap="flat" cmpd="sng" algn="ctr">
                <a:solidFill>
                  <a:srgbClr val="2A2F3A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055739-70C1-C64E-A768-20320F91FDD8}"/>
                  </a:ext>
                </a:extLst>
              </p:cNvPr>
              <p:cNvSpPr txBox="1"/>
              <p:nvPr/>
            </p:nvSpPr>
            <p:spPr>
              <a:xfrm>
                <a:off x="4407745" y="4648200"/>
                <a:ext cx="17949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400"/>
                  <a:t>🍃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53A33D-8E87-FA45-B6B2-2C9FCB981AD8}"/>
                  </a:ext>
                </a:extLst>
              </p:cNvPr>
              <p:cNvSpPr txBox="1"/>
              <p:nvPr/>
            </p:nvSpPr>
            <p:spPr>
              <a:xfrm>
                <a:off x="4612877" y="4635500"/>
                <a:ext cx="1035448" cy="330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altLang="zh-CN" sz="1600" b="1">
                    <a:solidFill>
                      <a:srgbClr val="E8C77A"/>
                    </a:solidFill>
                  </a:rPr>
                  <a:t>2 </a:t>
                </a:r>
                <a:r>
                  <a:rPr lang="zh-CN" altLang="en-US" sz="1600" b="1">
                    <a:solidFill>
                      <a:srgbClr val="E8C77A"/>
                    </a:solidFill>
                  </a:rPr>
                  <a:t>小时前</a:t>
                </a:r>
                <a:endParaRPr lang="en-US" sz="1600" b="1">
                  <a:solidFill>
                    <a:srgbClr val="E8C77A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658B37-2481-AB43-8137-EC18A0EB4028}"/>
                  </a:ext>
                </a:extLst>
              </p:cNvPr>
              <p:cNvSpPr txBox="1"/>
              <p:nvPr/>
            </p:nvSpPr>
            <p:spPr>
              <a:xfrm>
                <a:off x="5512157" y="4660900"/>
                <a:ext cx="2408466" cy="279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zh-CN" altLang="en-US" sz="1400">
                    <a:solidFill>
                      <a:srgbClr val="8A95A8"/>
                    </a:solidFill>
                  </a:rPr>
                  <a:t>有人走过与你相似的路线</a:t>
                </a:r>
                <a:endParaRPr lang="en-US" sz="1400">
                  <a:solidFill>
                    <a:srgbClr val="8A95A8"/>
                  </a:solidFill>
                </a:endParaRPr>
              </a:p>
            </p:txBody>
          </p:sp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66193487-034E-F24C-BA03-CFC816F777AF}"/>
              </a:ext>
            </a:extLst>
          </p:cNvPr>
          <p:cNvSpPr/>
          <p:nvPr/>
        </p:nvSpPr>
        <p:spPr>
          <a:xfrm>
            <a:off x="4318000" y="5207000"/>
            <a:ext cx="3628265" cy="1016000"/>
          </a:xfrm>
          <a:prstGeom prst="rect">
            <a:avLst/>
          </a:prstGeom>
          <a:noFill/>
          <a:ln w="12700" cap="flat" cmpd="sng" algn="ctr">
            <a:solidFill>
              <a:srgbClr val="2A2F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649E30-CB7E-E646-B1A8-68EAB3FE8B47}"/>
              </a:ext>
            </a:extLst>
          </p:cNvPr>
          <p:cNvSpPr txBox="1"/>
          <p:nvPr/>
        </p:nvSpPr>
        <p:spPr>
          <a:xfrm>
            <a:off x="4382104" y="5334000"/>
            <a:ext cx="3500058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>
                <a:solidFill>
                  <a:srgbClr val="8A95A8"/>
                </a:solidFill>
              </a:rPr>
              <a:t>没有头像  </a:t>
            </a:r>
            <a:r>
              <a:rPr lang="en-US" altLang="zh-CN" sz="1300">
                <a:solidFill>
                  <a:srgbClr val="8A95A8"/>
                </a:solidFill>
              </a:rPr>
              <a:t>·  </a:t>
            </a:r>
            <a:r>
              <a:rPr lang="zh-CN" altLang="en-US" sz="1300">
                <a:solidFill>
                  <a:srgbClr val="8A95A8"/>
                </a:solidFill>
              </a:rPr>
              <a:t>没有昵称  </a:t>
            </a:r>
            <a:r>
              <a:rPr lang="en-US" altLang="zh-CN" sz="1300">
                <a:solidFill>
                  <a:srgbClr val="8A95A8"/>
                </a:solidFill>
              </a:rPr>
              <a:t>·  </a:t>
            </a:r>
            <a:r>
              <a:rPr lang="zh-CN" altLang="en-US" sz="1300">
                <a:solidFill>
                  <a:srgbClr val="8A95A8"/>
                </a:solidFill>
              </a:rPr>
              <a:t>没有「打招呼」按钮  </a:t>
            </a:r>
            <a:r>
              <a:rPr lang="en-US" altLang="zh-CN" sz="1300">
                <a:solidFill>
                  <a:srgbClr val="8A95A8"/>
                </a:solidFill>
              </a:rPr>
              <a:t>·  </a:t>
            </a:r>
            <a:r>
              <a:rPr lang="zh-CN" altLang="en-US" sz="1300">
                <a:solidFill>
                  <a:srgbClr val="8A95A8"/>
                </a:solidFill>
              </a:rPr>
              <a:t>没有关注 </a:t>
            </a:r>
            <a:r>
              <a:rPr lang="en-US" altLang="zh-CN" sz="1300">
                <a:solidFill>
                  <a:srgbClr val="8A95A8"/>
                </a:solidFill>
              </a:rPr>
              <a:t>/ </a:t>
            </a:r>
            <a:r>
              <a:rPr lang="zh-CN" altLang="en-US" sz="1300">
                <a:solidFill>
                  <a:srgbClr val="8A95A8"/>
                </a:solidFill>
              </a:rPr>
              <a:t>私信</a:t>
            </a:r>
            <a:endParaRPr lang="en-US" sz="1300">
              <a:solidFill>
                <a:srgbClr val="8A95A8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DBE8BE-3A11-2144-8520-308EFBD3D87C}"/>
              </a:ext>
            </a:extLst>
          </p:cNvPr>
          <p:cNvSpPr txBox="1"/>
          <p:nvPr/>
        </p:nvSpPr>
        <p:spPr>
          <a:xfrm>
            <a:off x="4382104" y="5740400"/>
            <a:ext cx="3500058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b="1">
                <a:solidFill>
                  <a:srgbClr val="E8C77A"/>
                </a:solidFill>
              </a:rPr>
              <a:t>只有  微光</a:t>
            </a:r>
            <a:endParaRPr lang="en-US" b="1">
              <a:solidFill>
                <a:srgbClr val="E8C77A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59A6B5-4F22-E648-8444-02FBFE670897}"/>
              </a:ext>
            </a:extLst>
          </p:cNvPr>
          <p:cNvSpPr txBox="1"/>
          <p:nvPr/>
        </p:nvSpPr>
        <p:spPr>
          <a:xfrm>
            <a:off x="685800" y="6426200"/>
            <a:ext cx="1079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i="1">
                <a:solidFill>
                  <a:srgbClr val="8A95A8"/>
                </a:solidFill>
              </a:rPr>
              <a:t>世界上有人，和你过着相似的此刻</a:t>
            </a:r>
            <a:endParaRPr lang="en-US" sz="1400" i="1">
              <a:solidFill>
                <a:srgbClr val="8A95A8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CF0A70-745C-C1E6-C260-8BEE6C8ECCAD}"/>
              </a:ext>
            </a:extLst>
          </p:cNvPr>
          <p:cNvSpPr txBox="1"/>
          <p:nvPr/>
        </p:nvSpPr>
        <p:spPr>
          <a:xfrm>
            <a:off x="8382002" y="1943100"/>
            <a:ext cx="3619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5BE0C8"/>
                </a:solidFill>
              </a:rPr>
              <a:t>PARALLEL  ·  </a:t>
            </a:r>
            <a:r>
              <a:rPr lang="zh-CN" altLang="en-US" sz="1000">
                <a:solidFill>
                  <a:srgbClr val="5BE0C8"/>
                </a:solidFill>
              </a:rPr>
              <a:t>此刻同频</a:t>
            </a:r>
            <a:endParaRPr lang="en-US" sz="1000">
              <a:solidFill>
                <a:srgbClr val="5BE0C8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8F7BFE6-15B1-0CBE-6FC9-153646115717}"/>
              </a:ext>
            </a:extLst>
          </p:cNvPr>
          <p:cNvSpPr/>
          <p:nvPr/>
        </p:nvSpPr>
        <p:spPr>
          <a:xfrm>
            <a:off x="8318502" y="2260600"/>
            <a:ext cx="3556000" cy="3556000"/>
          </a:xfrm>
          <a:prstGeom prst="ellipse">
            <a:avLst/>
          </a:prstGeom>
          <a:noFill/>
          <a:ln w="9525" cap="flat" cmpd="sng" algn="ctr">
            <a:solidFill>
              <a:srgbClr val="1F24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1F59572-41D1-9D8D-EC84-AFB0CBB774E7}"/>
              </a:ext>
            </a:extLst>
          </p:cNvPr>
          <p:cNvSpPr/>
          <p:nvPr/>
        </p:nvSpPr>
        <p:spPr>
          <a:xfrm>
            <a:off x="8826502" y="2768600"/>
            <a:ext cx="2540000" cy="2540000"/>
          </a:xfrm>
          <a:prstGeom prst="ellipse">
            <a:avLst/>
          </a:prstGeom>
          <a:noFill/>
          <a:ln w="9525" cap="flat" cmpd="sng" algn="ctr">
            <a:solidFill>
              <a:srgbClr val="252A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E9841A2-B0FD-6AF7-4BA5-67254C7E4706}"/>
              </a:ext>
            </a:extLst>
          </p:cNvPr>
          <p:cNvSpPr/>
          <p:nvPr/>
        </p:nvSpPr>
        <p:spPr>
          <a:xfrm>
            <a:off x="9334502" y="32766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rgbClr val="2A2F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4D158DA-0301-5FA6-FF3E-07B432D1A004}"/>
              </a:ext>
            </a:extLst>
          </p:cNvPr>
          <p:cNvSpPr/>
          <p:nvPr/>
        </p:nvSpPr>
        <p:spPr>
          <a:xfrm>
            <a:off x="8318502" y="4035425"/>
            <a:ext cx="3556000" cy="6350"/>
          </a:xfrm>
          <a:prstGeom prst="rect">
            <a:avLst/>
          </a:prstGeom>
          <a:solidFill>
            <a:srgbClr val="1A1F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A4E665-4729-7AEE-97D8-CA90F33538DD}"/>
              </a:ext>
            </a:extLst>
          </p:cNvPr>
          <p:cNvSpPr/>
          <p:nvPr/>
        </p:nvSpPr>
        <p:spPr>
          <a:xfrm>
            <a:off x="10093327" y="2260600"/>
            <a:ext cx="6350" cy="3556000"/>
          </a:xfrm>
          <a:prstGeom prst="rect">
            <a:avLst/>
          </a:prstGeom>
          <a:solidFill>
            <a:srgbClr val="1A1F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2062143-36C7-26A3-E866-D44C37F74C4D}"/>
              </a:ext>
            </a:extLst>
          </p:cNvPr>
          <p:cNvSpPr/>
          <p:nvPr/>
        </p:nvSpPr>
        <p:spPr>
          <a:xfrm>
            <a:off x="10625806" y="4132161"/>
            <a:ext cx="203200" cy="203200"/>
          </a:xfrm>
          <a:prstGeom prst="ellipse">
            <a:avLst/>
          </a:prstGeom>
          <a:noFill/>
          <a:ln w="6350" cap="flat" cmpd="sng" algn="ctr">
            <a:solidFill>
              <a:srgbClr val="8A6A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298F77C-FABB-A08F-1B81-572E19FB9120}"/>
              </a:ext>
            </a:extLst>
          </p:cNvPr>
          <p:cNvSpPr/>
          <p:nvPr/>
        </p:nvSpPr>
        <p:spPr>
          <a:xfrm>
            <a:off x="10682956" y="4189311"/>
            <a:ext cx="88900" cy="88900"/>
          </a:xfrm>
          <a:prstGeom prst="ellipse">
            <a:avLst/>
          </a:prstGeom>
          <a:solidFill>
            <a:srgbClr val="8A6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40B5536-E05F-3380-ED07-F13B13714216}"/>
              </a:ext>
            </a:extLst>
          </p:cNvPr>
          <p:cNvSpPr/>
          <p:nvPr/>
        </p:nvSpPr>
        <p:spPr>
          <a:xfrm>
            <a:off x="10456934" y="4832530"/>
            <a:ext cx="177800" cy="177800"/>
          </a:xfrm>
          <a:prstGeom prst="ellipse">
            <a:avLst/>
          </a:prstGeom>
          <a:noFill/>
          <a:ln w="6350" cap="flat" cmpd="sng" algn="ctr">
            <a:solidFill>
              <a:srgbClr val="9A75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6C9B8B2-CE87-AA55-AEEB-54CDE3E29E23}"/>
              </a:ext>
            </a:extLst>
          </p:cNvPr>
          <p:cNvSpPr/>
          <p:nvPr/>
        </p:nvSpPr>
        <p:spPr>
          <a:xfrm>
            <a:off x="10507734" y="4883330"/>
            <a:ext cx="76200" cy="76200"/>
          </a:xfrm>
          <a:prstGeom prst="ellipse">
            <a:avLst/>
          </a:prstGeom>
          <a:solidFill>
            <a:srgbClr val="9A75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591E1FC-834B-E9C1-D883-50FD514C861C}"/>
              </a:ext>
            </a:extLst>
          </p:cNvPr>
          <p:cNvSpPr/>
          <p:nvPr/>
        </p:nvSpPr>
        <p:spPr>
          <a:xfrm>
            <a:off x="9824702" y="4473668"/>
            <a:ext cx="228600" cy="228600"/>
          </a:xfrm>
          <a:prstGeom prst="ellipse">
            <a:avLst/>
          </a:prstGeom>
          <a:noFill/>
          <a:ln w="6350" cap="flat" cmpd="sng" algn="ctr">
            <a:solidFill>
              <a:srgbClr val="B58A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D776A73-8322-3C81-6D54-1506749F1875}"/>
              </a:ext>
            </a:extLst>
          </p:cNvPr>
          <p:cNvSpPr/>
          <p:nvPr/>
        </p:nvSpPr>
        <p:spPr>
          <a:xfrm>
            <a:off x="9888202" y="4537168"/>
            <a:ext cx="101600" cy="101600"/>
          </a:xfrm>
          <a:prstGeom prst="ellipse">
            <a:avLst/>
          </a:prstGeom>
          <a:solidFill>
            <a:srgbClr val="B58A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09C214C-2FE8-9099-A573-0D6F3E364C22}"/>
              </a:ext>
            </a:extLst>
          </p:cNvPr>
          <p:cNvSpPr/>
          <p:nvPr/>
        </p:nvSpPr>
        <p:spPr>
          <a:xfrm>
            <a:off x="9037767" y="4601297"/>
            <a:ext cx="177800" cy="177800"/>
          </a:xfrm>
          <a:prstGeom prst="ellipse">
            <a:avLst/>
          </a:prstGeom>
          <a:noFill/>
          <a:ln w="6350" cap="flat" cmpd="sng" algn="ctr">
            <a:solidFill>
              <a:srgbClr val="8A6A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BFCE714-1497-368C-47C7-CF4D0BA64699}"/>
              </a:ext>
            </a:extLst>
          </p:cNvPr>
          <p:cNvSpPr/>
          <p:nvPr/>
        </p:nvSpPr>
        <p:spPr>
          <a:xfrm>
            <a:off x="9088567" y="4652097"/>
            <a:ext cx="76200" cy="76200"/>
          </a:xfrm>
          <a:prstGeom prst="ellipse">
            <a:avLst/>
          </a:prstGeom>
          <a:solidFill>
            <a:srgbClr val="8A6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4A454BE-1283-30C7-5484-70D49440A8A0}"/>
              </a:ext>
            </a:extLst>
          </p:cNvPr>
          <p:cNvSpPr/>
          <p:nvPr/>
        </p:nvSpPr>
        <p:spPr>
          <a:xfrm>
            <a:off x="9106670" y="3973965"/>
            <a:ext cx="203200" cy="203200"/>
          </a:xfrm>
          <a:prstGeom prst="ellipse">
            <a:avLst/>
          </a:prstGeom>
          <a:noFill/>
          <a:ln w="6350" cap="flat" cmpd="sng" algn="ctr">
            <a:solidFill>
              <a:srgbClr val="A07A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9636B4C-752A-3BD7-AFCE-F414496CB60D}"/>
              </a:ext>
            </a:extLst>
          </p:cNvPr>
          <p:cNvSpPr/>
          <p:nvPr/>
        </p:nvSpPr>
        <p:spPr>
          <a:xfrm>
            <a:off x="9163820" y="4031115"/>
            <a:ext cx="88900" cy="88900"/>
          </a:xfrm>
          <a:prstGeom prst="ellipse">
            <a:avLst/>
          </a:prstGeom>
          <a:solidFill>
            <a:srgbClr val="A07A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3F63EE3-50C6-D845-8C90-51138EFEDDB0}"/>
              </a:ext>
            </a:extLst>
          </p:cNvPr>
          <p:cNvSpPr/>
          <p:nvPr/>
        </p:nvSpPr>
        <p:spPr>
          <a:xfrm>
            <a:off x="8821875" y="3127634"/>
            <a:ext cx="152400" cy="152400"/>
          </a:xfrm>
          <a:prstGeom prst="ellipse">
            <a:avLst/>
          </a:prstGeom>
          <a:noFill/>
          <a:ln w="6350" cap="flat" cmpd="sng" algn="ctr">
            <a:solidFill>
              <a:srgbClr val="7058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7404CBA-1EE7-C34B-900A-CFB66201E10D}"/>
              </a:ext>
            </a:extLst>
          </p:cNvPr>
          <p:cNvSpPr/>
          <p:nvPr/>
        </p:nvSpPr>
        <p:spPr>
          <a:xfrm>
            <a:off x="8866325" y="3172084"/>
            <a:ext cx="63500" cy="63500"/>
          </a:xfrm>
          <a:prstGeom prst="ellipse">
            <a:avLst/>
          </a:prstGeom>
          <a:solidFill>
            <a:srgbClr val="7058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DEDEEE8-7CB8-658C-80DB-33841815E4A7}"/>
              </a:ext>
            </a:extLst>
          </p:cNvPr>
          <p:cNvSpPr/>
          <p:nvPr/>
        </p:nvSpPr>
        <p:spPr>
          <a:xfrm>
            <a:off x="9755820" y="3223349"/>
            <a:ext cx="228600" cy="228600"/>
          </a:xfrm>
          <a:prstGeom prst="ellipse">
            <a:avLst/>
          </a:prstGeom>
          <a:noFill/>
          <a:ln w="6350" cap="flat" cmpd="sng" algn="ctr">
            <a:solidFill>
              <a:srgbClr val="B58A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98E7F04-EA91-7C78-4359-1E099508C354}"/>
              </a:ext>
            </a:extLst>
          </p:cNvPr>
          <p:cNvSpPr/>
          <p:nvPr/>
        </p:nvSpPr>
        <p:spPr>
          <a:xfrm>
            <a:off x="9819320" y="3286849"/>
            <a:ext cx="101600" cy="101600"/>
          </a:xfrm>
          <a:prstGeom prst="ellipse">
            <a:avLst/>
          </a:prstGeom>
          <a:solidFill>
            <a:srgbClr val="B58A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58C0DD7-79D3-CA24-497D-C14CDC32CC00}"/>
              </a:ext>
            </a:extLst>
          </p:cNvPr>
          <p:cNvSpPr/>
          <p:nvPr/>
        </p:nvSpPr>
        <p:spPr>
          <a:xfrm>
            <a:off x="10377789" y="2895190"/>
            <a:ext cx="177800" cy="177800"/>
          </a:xfrm>
          <a:prstGeom prst="ellipse">
            <a:avLst/>
          </a:prstGeom>
          <a:noFill/>
          <a:ln w="6350" cap="flat" cmpd="sng" algn="ctr">
            <a:solidFill>
              <a:srgbClr val="9A75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91D3867-B00C-631A-1D45-32178F1A9F1B}"/>
              </a:ext>
            </a:extLst>
          </p:cNvPr>
          <p:cNvSpPr/>
          <p:nvPr/>
        </p:nvSpPr>
        <p:spPr>
          <a:xfrm>
            <a:off x="10428589" y="2945990"/>
            <a:ext cx="76200" cy="76200"/>
          </a:xfrm>
          <a:prstGeom prst="ellipse">
            <a:avLst/>
          </a:prstGeom>
          <a:solidFill>
            <a:srgbClr val="9A75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DAC625E-F432-290A-1269-81A379FB3D98}"/>
              </a:ext>
            </a:extLst>
          </p:cNvPr>
          <p:cNvSpPr/>
          <p:nvPr/>
        </p:nvSpPr>
        <p:spPr>
          <a:xfrm>
            <a:off x="11300060" y="3023051"/>
            <a:ext cx="152400" cy="152400"/>
          </a:xfrm>
          <a:prstGeom prst="ellipse">
            <a:avLst/>
          </a:prstGeom>
          <a:noFill/>
          <a:ln w="6350" cap="flat" cmpd="sng" algn="ctr">
            <a:solidFill>
              <a:srgbClr val="7058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0BF1152-9717-DA00-B01C-94EC5E594572}"/>
              </a:ext>
            </a:extLst>
          </p:cNvPr>
          <p:cNvSpPr/>
          <p:nvPr/>
        </p:nvSpPr>
        <p:spPr>
          <a:xfrm>
            <a:off x="11344510" y="3067501"/>
            <a:ext cx="63500" cy="63500"/>
          </a:xfrm>
          <a:prstGeom prst="ellipse">
            <a:avLst/>
          </a:prstGeom>
          <a:solidFill>
            <a:srgbClr val="7058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54EBD4A-5412-0BD2-906B-30DA4A8FEC43}"/>
              </a:ext>
            </a:extLst>
          </p:cNvPr>
          <p:cNvSpPr/>
          <p:nvPr/>
        </p:nvSpPr>
        <p:spPr>
          <a:xfrm>
            <a:off x="11029771" y="4901949"/>
            <a:ext cx="177800" cy="177800"/>
          </a:xfrm>
          <a:prstGeom prst="ellipse">
            <a:avLst/>
          </a:prstGeom>
          <a:noFill/>
          <a:ln w="6350" cap="flat" cmpd="sng" algn="ctr">
            <a:solidFill>
              <a:srgbClr val="8A6A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22300E3-CA85-2D6E-74F0-A61CFF5BCDCD}"/>
              </a:ext>
            </a:extLst>
          </p:cNvPr>
          <p:cNvSpPr/>
          <p:nvPr/>
        </p:nvSpPr>
        <p:spPr>
          <a:xfrm>
            <a:off x="11080571" y="4952749"/>
            <a:ext cx="76200" cy="76200"/>
          </a:xfrm>
          <a:prstGeom prst="ellipse">
            <a:avLst/>
          </a:prstGeom>
          <a:solidFill>
            <a:srgbClr val="8A6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E7AC2D6-4ADF-2CE3-5CFB-7B4C38528A0B}"/>
              </a:ext>
            </a:extLst>
          </p:cNvPr>
          <p:cNvSpPr/>
          <p:nvPr/>
        </p:nvSpPr>
        <p:spPr>
          <a:xfrm>
            <a:off x="9116614" y="5344119"/>
            <a:ext cx="152400" cy="152400"/>
          </a:xfrm>
          <a:prstGeom prst="ellipse">
            <a:avLst/>
          </a:prstGeom>
          <a:noFill/>
          <a:ln w="6350" cap="flat" cmpd="sng" algn="ctr">
            <a:solidFill>
              <a:srgbClr val="60481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75879D3-E384-824C-3C1C-D08C8AB31210}"/>
              </a:ext>
            </a:extLst>
          </p:cNvPr>
          <p:cNvSpPr/>
          <p:nvPr/>
        </p:nvSpPr>
        <p:spPr>
          <a:xfrm>
            <a:off x="9161064" y="5388569"/>
            <a:ext cx="63500" cy="63500"/>
          </a:xfrm>
          <a:prstGeom prst="ellipse">
            <a:avLst/>
          </a:prstGeom>
          <a:solidFill>
            <a:srgbClr val="6048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1E62E45-52C9-C1D3-AB31-DED95C02FA96}"/>
              </a:ext>
            </a:extLst>
          </p:cNvPr>
          <p:cNvSpPr/>
          <p:nvPr/>
        </p:nvSpPr>
        <p:spPr>
          <a:xfrm>
            <a:off x="10048403" y="3446262"/>
            <a:ext cx="228600" cy="228600"/>
          </a:xfrm>
          <a:prstGeom prst="ellipse">
            <a:avLst/>
          </a:prstGeom>
          <a:noFill/>
          <a:ln w="6350" cap="flat" cmpd="sng" algn="ctr">
            <a:solidFill>
              <a:srgbClr val="B58A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DD08910C-9BFD-DCCD-9947-9C15696A84B9}"/>
              </a:ext>
            </a:extLst>
          </p:cNvPr>
          <p:cNvSpPr/>
          <p:nvPr/>
        </p:nvSpPr>
        <p:spPr>
          <a:xfrm>
            <a:off x="10111903" y="3509762"/>
            <a:ext cx="101600" cy="101600"/>
          </a:xfrm>
          <a:prstGeom prst="ellipse">
            <a:avLst/>
          </a:prstGeom>
          <a:solidFill>
            <a:srgbClr val="B58A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75835F56-750B-7763-DCDE-83B987EEA1B0}"/>
              </a:ext>
            </a:extLst>
          </p:cNvPr>
          <p:cNvSpPr/>
          <p:nvPr/>
        </p:nvSpPr>
        <p:spPr>
          <a:xfrm>
            <a:off x="10775003" y="3667016"/>
            <a:ext cx="203200" cy="203200"/>
          </a:xfrm>
          <a:prstGeom prst="ellipse">
            <a:avLst/>
          </a:prstGeom>
          <a:noFill/>
          <a:ln w="6350" cap="flat" cmpd="sng" algn="ctr">
            <a:solidFill>
              <a:srgbClr val="9A75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53AE9200-BEDA-816A-94FA-DE9515315160}"/>
              </a:ext>
            </a:extLst>
          </p:cNvPr>
          <p:cNvSpPr/>
          <p:nvPr/>
        </p:nvSpPr>
        <p:spPr>
          <a:xfrm>
            <a:off x="10832153" y="3724166"/>
            <a:ext cx="88900" cy="88900"/>
          </a:xfrm>
          <a:prstGeom prst="ellipse">
            <a:avLst/>
          </a:prstGeom>
          <a:solidFill>
            <a:srgbClr val="9A75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8BC4CE5-0DDA-D241-5FB4-328565102DD9}"/>
              </a:ext>
            </a:extLst>
          </p:cNvPr>
          <p:cNvSpPr/>
          <p:nvPr/>
        </p:nvSpPr>
        <p:spPr>
          <a:xfrm>
            <a:off x="10207008" y="5500509"/>
            <a:ext cx="152400" cy="152400"/>
          </a:xfrm>
          <a:prstGeom prst="ellipse">
            <a:avLst/>
          </a:prstGeom>
          <a:noFill/>
          <a:ln w="6350" cap="flat" cmpd="sng" algn="ctr">
            <a:solidFill>
              <a:srgbClr val="7058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81B0A65-64BF-D09C-123F-B81B37D23B8D}"/>
              </a:ext>
            </a:extLst>
          </p:cNvPr>
          <p:cNvSpPr/>
          <p:nvPr/>
        </p:nvSpPr>
        <p:spPr>
          <a:xfrm>
            <a:off x="10251458" y="5544959"/>
            <a:ext cx="63500" cy="63500"/>
          </a:xfrm>
          <a:prstGeom prst="ellipse">
            <a:avLst/>
          </a:prstGeom>
          <a:solidFill>
            <a:srgbClr val="7058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4B468A2-9098-DDCD-6408-15870080DA5C}"/>
              </a:ext>
            </a:extLst>
          </p:cNvPr>
          <p:cNvSpPr/>
          <p:nvPr/>
        </p:nvSpPr>
        <p:spPr>
          <a:xfrm>
            <a:off x="8737018" y="3544927"/>
            <a:ext cx="177800" cy="177800"/>
          </a:xfrm>
          <a:prstGeom prst="ellipse">
            <a:avLst/>
          </a:prstGeom>
          <a:noFill/>
          <a:ln w="6350" cap="flat" cmpd="sng" algn="ctr">
            <a:solidFill>
              <a:srgbClr val="8A6A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B325C237-8BCE-838C-A860-A59D63A01B69}"/>
              </a:ext>
            </a:extLst>
          </p:cNvPr>
          <p:cNvSpPr/>
          <p:nvPr/>
        </p:nvSpPr>
        <p:spPr>
          <a:xfrm>
            <a:off x="8787818" y="3595727"/>
            <a:ext cx="76200" cy="76200"/>
          </a:xfrm>
          <a:prstGeom prst="ellipse">
            <a:avLst/>
          </a:prstGeom>
          <a:solidFill>
            <a:srgbClr val="8A6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3429C870-6B32-F89D-0E48-9633964FCD6B}"/>
              </a:ext>
            </a:extLst>
          </p:cNvPr>
          <p:cNvSpPr/>
          <p:nvPr/>
        </p:nvSpPr>
        <p:spPr>
          <a:xfrm>
            <a:off x="9817102" y="3759200"/>
            <a:ext cx="558800" cy="558800"/>
          </a:xfrm>
          <a:prstGeom prst="ellipse">
            <a:avLst/>
          </a:prstGeom>
          <a:noFill/>
          <a:ln w="9525" cap="flat" cmpd="sng" algn="ctr">
            <a:solidFill>
              <a:srgbClr val="E8C7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33FDAE39-FDAE-DF66-F7AC-F992CF3CEE80}"/>
              </a:ext>
            </a:extLst>
          </p:cNvPr>
          <p:cNvSpPr/>
          <p:nvPr/>
        </p:nvSpPr>
        <p:spPr>
          <a:xfrm>
            <a:off x="9893302" y="3835400"/>
            <a:ext cx="406400" cy="406400"/>
          </a:xfrm>
          <a:prstGeom prst="ellipse">
            <a:avLst/>
          </a:prstGeom>
          <a:noFill/>
          <a:ln w="12700" cap="flat" cmpd="sng" algn="ctr">
            <a:solidFill>
              <a:srgbClr val="E8C7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C4A90621-8B8D-C9F9-13EA-FC85216431B7}"/>
              </a:ext>
            </a:extLst>
          </p:cNvPr>
          <p:cNvSpPr/>
          <p:nvPr/>
        </p:nvSpPr>
        <p:spPr>
          <a:xfrm>
            <a:off x="9969502" y="3911600"/>
            <a:ext cx="254000" cy="254000"/>
          </a:xfrm>
          <a:prstGeom prst="ellipse">
            <a:avLst/>
          </a:prstGeom>
          <a:solidFill>
            <a:srgbClr val="E8C7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000" b="1">
                <a:solidFill>
                  <a:srgbClr val="0A0E14"/>
                </a:solidFill>
              </a:rPr>
              <a:t>你</a:t>
            </a:r>
            <a:endParaRPr lang="en-US" sz="1000" b="1">
              <a:solidFill>
                <a:srgbClr val="0A0E14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F1ABBD4-DFAF-7858-7932-9BFD55072FF4}"/>
              </a:ext>
            </a:extLst>
          </p:cNvPr>
          <p:cNvSpPr txBox="1"/>
          <p:nvPr/>
        </p:nvSpPr>
        <p:spPr>
          <a:xfrm>
            <a:off x="8382002" y="5969000"/>
            <a:ext cx="361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 i="1">
                <a:solidFill>
                  <a:srgbClr val="8A95A8"/>
                </a:solidFill>
              </a:rPr>
              <a:t>此刻，你的城市里有 </a:t>
            </a:r>
            <a:r>
              <a:rPr lang="en-US" altLang="zh-CN" sz="1100" i="1">
                <a:solidFill>
                  <a:srgbClr val="8A95A8"/>
                </a:solidFill>
              </a:rPr>
              <a:t>127 </a:t>
            </a:r>
            <a:r>
              <a:rPr lang="zh-CN" altLang="en-US" sz="1100" i="1">
                <a:solidFill>
                  <a:srgbClr val="8A95A8"/>
                </a:solidFill>
              </a:rPr>
              <a:t>人正在独自漫游</a:t>
            </a:r>
            <a:endParaRPr lang="en-US" sz="1100" i="1">
              <a:solidFill>
                <a:srgbClr val="8A95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89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581DA5-1772-1554-C7ED-21354011D669}"/>
              </a:ext>
            </a:extLst>
          </p:cNvPr>
          <p:cNvSpPr txBox="1"/>
          <p:nvPr/>
        </p:nvSpPr>
        <p:spPr>
          <a:xfrm>
            <a:off x="3683357" y="3059668"/>
            <a:ext cx="4889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这一页讲实施</a:t>
            </a:r>
            <a:r>
              <a:rPr lang="zh-CN" altLang="en-US"/>
              <a:t>，</a:t>
            </a:r>
            <a:r>
              <a:rPr lang="en-US"/>
              <a:t>课题要求的</a:t>
            </a:r>
            <a:r>
              <a:rPr lang="en-US" altLang="zh-CN"/>
              <a:t>3</a:t>
            </a:r>
            <a:r>
              <a:rPr lang="zh-CN" altLang="en-US"/>
              <a:t>个</a:t>
            </a:r>
            <a:r>
              <a:rPr lang="en-US" altLang="zh-CN"/>
              <a:t>skill</a:t>
            </a:r>
            <a:r>
              <a:rPr lang="zh-CN" altLang="en-US"/>
              <a:t>分别是什么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88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Halo"/>
          <p:cNvSpPr/>
          <p:nvPr/>
        </p:nvSpPr>
        <p:spPr>
          <a:xfrm>
            <a:off x="3500000" y="1100000"/>
            <a:ext cx="5200000" cy="5200000"/>
          </a:xfrm>
          <a:prstGeom prst="ellipse">
            <a:avLst/>
          </a:prstGeom>
          <a:gradFill flip="none" rotWithShape="1">
            <a:gsLst>
              <a:gs pos="0">
                <a:srgbClr val="5BE0C8">
                  <a:alpha val="22000"/>
                </a:srgbClr>
              </a:gs>
              <a:gs pos="55000">
                <a:srgbClr val="E8C77A">
                  <a:alpha val="15000"/>
                </a:srgbClr>
              </a:gs>
              <a:gs pos="100000">
                <a:srgbClr val="0A0E1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PageTag"/>
          <p:cNvSpPr txBox="1"/>
          <p:nvPr/>
        </p:nvSpPr>
        <p:spPr>
          <a:xfrm>
            <a:off x="685800" y="450000"/>
            <a:ext cx="50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1200" spc="400">
                <a:solidFill>
                  <a:srgbClr val="5BE0C8"/>
                </a:solidFill>
              </a:rPr>
              <a:t>09  /  CLOSING</a:t>
            </a:r>
          </a:p>
        </p:txBody>
      </p:sp>
      <p:sp>
        <p:nvSpPr>
          <p:cNvPr id="502" name="EyebrowQuote"/>
          <p:cNvSpPr txBox="1"/>
          <p:nvPr/>
        </p:nvSpPr>
        <p:spPr>
          <a:xfrm>
            <a:off x="685800" y="205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500" spc="500">
                <a:solidFill>
                  <a:srgbClr val="8A95A8"/>
                </a:solidFill>
              </a:rPr>
              <a:t>一 人 一 城　·　独 自 性 感</a:t>
            </a:r>
          </a:p>
        </p:txBody>
      </p:sp>
      <p:sp>
        <p:nvSpPr>
          <p:cNvPr id="503" name="MainLine"/>
          <p:cNvSpPr txBox="1"/>
          <p:nvPr/>
        </p:nvSpPr>
        <p:spPr>
          <a:xfrm>
            <a:off x="457200" y="2600000"/>
            <a:ext cx="11277600" cy="1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6000" b="1" spc="400">
                <a:solidFill>
                  <a:srgbClr val="F4F1EA"/>
                </a:solidFill>
              </a:rPr>
              <a:t>一个人，</a:t>
            </a:r>
          </a:p>
          <a:p>
            <a:pPr algn="ctr">
              <a:buNone/>
            </a:pPr>
            <a:r>
              <a:rPr lang="zh-CN" sz="6000" b="1" spc="400">
                <a:solidFill>
                  <a:srgbClr val="E8C77A"/>
                </a:solidFill>
              </a:rPr>
              <a:t>同样是一整个了不起的宇宙。</a:t>
            </a:r>
          </a:p>
        </p:txBody>
      </p:sp>
      <p:sp>
        <p:nvSpPr>
          <p:cNvPr id="504" name="Divider"/>
          <p:cNvSpPr/>
          <p:nvPr/>
        </p:nvSpPr>
        <p:spPr>
          <a:xfrm>
            <a:off x="5486400" y="4750000"/>
            <a:ext cx="1219200" cy="12700"/>
          </a:xfrm>
          <a:prstGeom prst="rect">
            <a:avLst/>
          </a:prstGeom>
          <a:solidFill>
            <a:srgbClr val="E8C7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5" name="Signoff"/>
          <p:cNvSpPr txBox="1"/>
          <p:nvPr/>
        </p:nvSpPr>
        <p:spPr>
          <a:xfrm>
            <a:off x="1828800" y="4900000"/>
            <a:ext cx="85344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F4F1EA"/>
                </a:solidFill>
              </a:rPr>
              <a:t>SoloVibe</a:t>
            </a:r>
            <a:r>
              <a:rPr lang="zh-CN" sz="2000">
                <a:solidFill>
                  <a:srgbClr val="8A95A8"/>
                </a:solidFill>
              </a:rPr>
              <a:t>　·　冰冷都市里的精神互助角落</a:t>
            </a:r>
          </a:p>
        </p:txBody>
      </p:sp>
      <p:sp>
        <p:nvSpPr>
          <p:cNvPr id="506" name="ThanksTxt"/>
          <p:cNvSpPr txBox="1"/>
          <p:nvPr/>
        </p:nvSpPr>
        <p:spPr>
          <a:xfrm>
            <a:off x="457200" y="5750000"/>
            <a:ext cx="11277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spc="800">
                <a:solidFill>
                  <a:srgbClr val="5BE0C8"/>
                </a:solidFill>
              </a:rPr>
              <a:t>T H A N K   Y O U</a:t>
            </a:r>
          </a:p>
        </p:txBody>
      </p:sp>
    </p:spTree>
    <p:extLst>
      <p:ext uri="{BB962C8B-B14F-4D97-AF65-F5344CB8AC3E}">
        <p14:creationId xmlns:p14="http://schemas.microsoft.com/office/powerpoint/2010/main" val="196515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751124934]">
  <a:themeElements>
    <a:clrScheme name="Office">
      <a:dk1>
        <a:srgbClr val="F4F1EA"/>
      </a:dk1>
      <a:lt1>
        <a:srgbClr val="0A0E14"/>
      </a:lt1>
      <a:dk2>
        <a:srgbClr val="E8C77A"/>
      </a:dk2>
      <a:lt2>
        <a:srgbClr val="1A1F2A"/>
      </a:lt2>
      <a:accent1>
        <a:srgbClr val="E8C77A"/>
      </a:accent1>
      <a:accent2>
        <a:srgbClr val="5BE0C8"/>
      </a:accent2>
      <a:accent3>
        <a:srgbClr val="D4A574"/>
      </a:accent3>
      <a:accent4>
        <a:srgbClr val="8A95A8"/>
      </a:accent4>
      <a:accent5>
        <a:srgbClr val="F4F1EA"/>
      </a:accent5>
      <a:accent6>
        <a:srgbClr val="FF8A5C"/>
      </a:accent6>
      <a:hlink>
        <a:srgbClr val="467886"/>
      </a:hlink>
      <a:folHlink>
        <a:srgbClr val="96607D"/>
      </a:folHlink>
    </a:clrScheme>
    <a:fontScheme name="Office">
      <a:majorFont>
        <a:latin typeface="Microsoft YaHe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BB7D20-A60B-B543-A4B2-93364E04A1E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910f633-2b63-41ac-9c82-9deae85202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895</Words>
  <Application>Microsoft Office PowerPoint</Application>
  <PresentationFormat>宽屏</PresentationFormat>
  <Paragraphs>155</Paragraphs>
  <Slides>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Microsoft YaHei</vt:lpstr>
      <vt:lpstr>Arial</vt:lpstr>
      <vt:lpstr>Office Theme [1779751124934]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興正 王</dc:creator>
  <cp:lastModifiedBy>user</cp:lastModifiedBy>
  <cp:revision>3</cp:revision>
  <dcterms:created xsi:type="dcterms:W3CDTF">2026-05-25T23:15:43Z</dcterms:created>
  <dcterms:modified xsi:type="dcterms:W3CDTF">2026-05-26T16:49:55Z</dcterms:modified>
</cp:coreProperties>
</file>